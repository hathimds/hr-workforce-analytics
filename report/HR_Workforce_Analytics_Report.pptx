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5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a4fd2a0bc37ed97136c6be64ffceea63d3d94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8" r="1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506B">
                  <a:alpha val="95000"/>
                </a:srgbClr>
              </a:gs>
              <a:gs pos="100000">
                <a:srgbClr val="3A506B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20203"/>
            <a:ext cx="2114550" cy="419100"/>
          </a:xfrm>
          <a:custGeom>
            <a:avLst/>
            <a:gdLst/>
            <a:ahLst/>
            <a:cxnLst/>
            <a:rect l="l" t="t" r="r" b="b"/>
            <a:pathLst>
              <a:path w="2114550" h="41910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381000"/>
                </a:lnTo>
                <a:cubicBezTo>
                  <a:pt x="2114550" y="402042"/>
                  <a:pt x="2097492" y="419100"/>
                  <a:pt x="20764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96403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ANALYTICS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4410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Workforce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87203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A9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Python &amp; Tableau for Strategic Workforce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9016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DA9C4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1030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Data Generation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37522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3366135" y="62103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67908" y="6248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5520333" y="62103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41462" y="62103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A9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Hathim Manaf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3770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spc="65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700372"/>
            <a:ext cx="11675937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3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7048" y="1437605"/>
            <a:ext cx="5556898" cy="2137977"/>
          </a:xfrm>
          <a:custGeom>
            <a:avLst/>
            <a:gdLst/>
            <a:ahLst/>
            <a:cxnLst/>
            <a:rect l="l" t="t" r="r" b="b"/>
            <a:pathLst>
              <a:path w="5556898" h="2137977">
                <a:moveTo>
                  <a:pt x="36862" y="0"/>
                </a:moveTo>
                <a:lnTo>
                  <a:pt x="5483181" y="0"/>
                </a:lnTo>
                <a:cubicBezTo>
                  <a:pt x="5523894" y="0"/>
                  <a:pt x="5556898" y="33004"/>
                  <a:pt x="5556898" y="73717"/>
                </a:cubicBezTo>
                <a:lnTo>
                  <a:pt x="5556898" y="2064260"/>
                </a:lnTo>
                <a:cubicBezTo>
                  <a:pt x="5556898" y="2104973"/>
                  <a:pt x="5523894" y="2137977"/>
                  <a:pt x="5483181" y="2137977"/>
                </a:cubicBezTo>
                <a:lnTo>
                  <a:pt x="36862" y="2137977"/>
                </a:lnTo>
                <a:cubicBezTo>
                  <a:pt x="16504" y="2137977"/>
                  <a:pt x="0" y="2121474"/>
                  <a:pt x="0" y="210111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7048" y="1437605"/>
            <a:ext cx="36862" cy="2137977"/>
          </a:xfrm>
          <a:custGeom>
            <a:avLst/>
            <a:gdLst/>
            <a:ahLst/>
            <a:cxnLst/>
            <a:rect l="l" t="t" r="r" b="b"/>
            <a:pathLst>
              <a:path w="36862" h="2137977">
                <a:moveTo>
                  <a:pt x="36862" y="0"/>
                </a:moveTo>
                <a:lnTo>
                  <a:pt x="36862" y="0"/>
                </a:lnTo>
                <a:lnTo>
                  <a:pt x="36862" y="2137977"/>
                </a:lnTo>
                <a:lnTo>
                  <a:pt x="36862" y="2137977"/>
                </a:lnTo>
                <a:cubicBezTo>
                  <a:pt x="16504" y="2137977"/>
                  <a:pt x="0" y="2121474"/>
                  <a:pt x="0" y="210111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6" name="Shape 4"/>
          <p:cNvSpPr/>
          <p:nvPr/>
        </p:nvSpPr>
        <p:spPr>
          <a:xfrm>
            <a:off x="700372" y="1732499"/>
            <a:ext cx="516063" cy="516063"/>
          </a:xfrm>
          <a:custGeom>
            <a:avLst/>
            <a:gdLst/>
            <a:ahLst/>
            <a:cxnLst/>
            <a:rect l="l" t="t" r="r" b="b"/>
            <a:pathLst>
              <a:path w="516063" h="516063">
                <a:moveTo>
                  <a:pt x="258032" y="0"/>
                </a:moveTo>
                <a:lnTo>
                  <a:pt x="258032" y="0"/>
                </a:lnTo>
                <a:cubicBezTo>
                  <a:pt x="400443" y="0"/>
                  <a:pt x="516063" y="115620"/>
                  <a:pt x="516063" y="258032"/>
                </a:cubicBezTo>
                <a:lnTo>
                  <a:pt x="516063" y="258032"/>
                </a:lnTo>
                <a:cubicBezTo>
                  <a:pt x="516063" y="400443"/>
                  <a:pt x="400443" y="516063"/>
                  <a:pt x="258032" y="516063"/>
                </a:cubicBezTo>
                <a:lnTo>
                  <a:pt x="258032" y="516063"/>
                </a:lnTo>
                <a:cubicBezTo>
                  <a:pt x="115620" y="516063"/>
                  <a:pt x="0" y="400443"/>
                  <a:pt x="0" y="258032"/>
                </a:cubicBezTo>
                <a:lnTo>
                  <a:pt x="0" y="258032"/>
                </a:lnTo>
                <a:cubicBezTo>
                  <a:pt x="0" y="115620"/>
                  <a:pt x="115620" y="0"/>
                  <a:pt x="258032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7" name="Shape 5"/>
          <p:cNvSpPr/>
          <p:nvPr/>
        </p:nvSpPr>
        <p:spPr>
          <a:xfrm>
            <a:off x="847819" y="1879946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0" y="34558"/>
                </a:moveTo>
                <a:cubicBezTo>
                  <a:pt x="0" y="23111"/>
                  <a:pt x="9287" y="13823"/>
                  <a:pt x="20735" y="13823"/>
                </a:cubicBezTo>
                <a:lnTo>
                  <a:pt x="62204" y="13823"/>
                </a:lnTo>
                <a:cubicBezTo>
                  <a:pt x="73651" y="13823"/>
                  <a:pt x="82939" y="23111"/>
                  <a:pt x="82939" y="34558"/>
                </a:cubicBezTo>
                <a:lnTo>
                  <a:pt x="82939" y="41469"/>
                </a:lnTo>
                <a:lnTo>
                  <a:pt x="138231" y="41469"/>
                </a:lnTo>
                <a:lnTo>
                  <a:pt x="138231" y="34558"/>
                </a:lnTo>
                <a:cubicBezTo>
                  <a:pt x="138231" y="23111"/>
                  <a:pt x="147519" y="13823"/>
                  <a:pt x="158966" y="13823"/>
                </a:cubicBezTo>
                <a:lnTo>
                  <a:pt x="200435" y="13823"/>
                </a:lnTo>
                <a:cubicBezTo>
                  <a:pt x="211883" y="13823"/>
                  <a:pt x="221170" y="23111"/>
                  <a:pt x="221170" y="34558"/>
                </a:cubicBezTo>
                <a:lnTo>
                  <a:pt x="221170" y="76027"/>
                </a:lnTo>
                <a:cubicBezTo>
                  <a:pt x="221170" y="87474"/>
                  <a:pt x="211883" y="96762"/>
                  <a:pt x="200435" y="96762"/>
                </a:cubicBezTo>
                <a:lnTo>
                  <a:pt x="158966" y="96762"/>
                </a:lnTo>
                <a:cubicBezTo>
                  <a:pt x="147519" y="96762"/>
                  <a:pt x="138231" y="87474"/>
                  <a:pt x="138231" y="76027"/>
                </a:cubicBezTo>
                <a:lnTo>
                  <a:pt x="138231" y="69116"/>
                </a:lnTo>
                <a:lnTo>
                  <a:pt x="82939" y="69116"/>
                </a:lnTo>
                <a:lnTo>
                  <a:pt x="82939" y="76027"/>
                </a:lnTo>
                <a:cubicBezTo>
                  <a:pt x="82939" y="79181"/>
                  <a:pt x="82204" y="82204"/>
                  <a:pt x="80952" y="84883"/>
                </a:cubicBezTo>
                <a:lnTo>
                  <a:pt x="110585" y="124408"/>
                </a:lnTo>
                <a:lnTo>
                  <a:pt x="145143" y="124408"/>
                </a:lnTo>
                <a:cubicBezTo>
                  <a:pt x="156590" y="124408"/>
                  <a:pt x="165878" y="133696"/>
                  <a:pt x="165878" y="145143"/>
                </a:cubicBezTo>
                <a:lnTo>
                  <a:pt x="165878" y="186612"/>
                </a:lnTo>
                <a:cubicBezTo>
                  <a:pt x="165878" y="198060"/>
                  <a:pt x="156590" y="207347"/>
                  <a:pt x="145143" y="207347"/>
                </a:cubicBezTo>
                <a:lnTo>
                  <a:pt x="103673" y="207347"/>
                </a:lnTo>
                <a:cubicBezTo>
                  <a:pt x="92226" y="207347"/>
                  <a:pt x="82939" y="198060"/>
                  <a:pt x="82939" y="186612"/>
                </a:cubicBezTo>
                <a:lnTo>
                  <a:pt x="82939" y="145143"/>
                </a:lnTo>
                <a:cubicBezTo>
                  <a:pt x="82939" y="141989"/>
                  <a:pt x="83673" y="138966"/>
                  <a:pt x="84926" y="136287"/>
                </a:cubicBezTo>
                <a:lnTo>
                  <a:pt x="55293" y="96762"/>
                </a:lnTo>
                <a:lnTo>
                  <a:pt x="20735" y="96762"/>
                </a:lnTo>
                <a:cubicBezTo>
                  <a:pt x="9287" y="96762"/>
                  <a:pt x="0" y="87474"/>
                  <a:pt x="0" y="76027"/>
                </a:cubicBezTo>
                <a:lnTo>
                  <a:pt x="0" y="34558"/>
                </a:lnTo>
                <a:close/>
              </a:path>
            </a:pathLst>
          </a:custGeom>
          <a:solidFill>
            <a:srgbClr val="FDFDFD"/>
          </a:solidFill>
          <a:ln/>
        </p:spPr>
      </p:sp>
      <p:sp>
        <p:nvSpPr>
          <p:cNvPr id="8" name="Text 6"/>
          <p:cNvSpPr/>
          <p:nvPr/>
        </p:nvSpPr>
        <p:spPr>
          <a:xfrm>
            <a:off x="1400744" y="1732499"/>
            <a:ext cx="1465252" cy="368617"/>
          </a:xfrm>
          <a:prstGeom prst="rect">
            <a:avLst/>
          </a:prstGeom>
          <a:noFill/>
          <a:ln/>
        </p:spPr>
        <p:txBody>
          <a:bodyPr wrap="square" lIns="0" tIns="73723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0372" y="2469732"/>
            <a:ext cx="5031619" cy="810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simulates a real-world HR analytics system by generating synthetic employee data using Python and analyzing workforce patterns through Tableau dashboards.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0265" y="1437605"/>
            <a:ext cx="5556898" cy="2137977"/>
          </a:xfrm>
          <a:custGeom>
            <a:avLst/>
            <a:gdLst/>
            <a:ahLst/>
            <a:cxnLst/>
            <a:rect l="l" t="t" r="r" b="b"/>
            <a:pathLst>
              <a:path w="5556898" h="2137977">
                <a:moveTo>
                  <a:pt x="36862" y="0"/>
                </a:moveTo>
                <a:lnTo>
                  <a:pt x="5483181" y="0"/>
                </a:lnTo>
                <a:cubicBezTo>
                  <a:pt x="5523894" y="0"/>
                  <a:pt x="5556898" y="33004"/>
                  <a:pt x="5556898" y="73717"/>
                </a:cubicBezTo>
                <a:lnTo>
                  <a:pt x="5556898" y="2064260"/>
                </a:lnTo>
                <a:cubicBezTo>
                  <a:pt x="5556898" y="2104973"/>
                  <a:pt x="5523894" y="2137977"/>
                  <a:pt x="5483181" y="2137977"/>
                </a:cubicBezTo>
                <a:lnTo>
                  <a:pt x="36862" y="2137977"/>
                </a:lnTo>
                <a:cubicBezTo>
                  <a:pt x="16504" y="2137977"/>
                  <a:pt x="0" y="2121474"/>
                  <a:pt x="0" y="210111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0265" y="1437605"/>
            <a:ext cx="36862" cy="2137977"/>
          </a:xfrm>
          <a:custGeom>
            <a:avLst/>
            <a:gdLst/>
            <a:ahLst/>
            <a:cxnLst/>
            <a:rect l="l" t="t" r="r" b="b"/>
            <a:pathLst>
              <a:path w="36862" h="2137977">
                <a:moveTo>
                  <a:pt x="36862" y="0"/>
                </a:moveTo>
                <a:lnTo>
                  <a:pt x="36862" y="0"/>
                </a:lnTo>
                <a:lnTo>
                  <a:pt x="36862" y="2137977"/>
                </a:lnTo>
                <a:lnTo>
                  <a:pt x="36862" y="2137977"/>
                </a:lnTo>
                <a:cubicBezTo>
                  <a:pt x="16504" y="2137977"/>
                  <a:pt x="0" y="2121474"/>
                  <a:pt x="0" y="210111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3589" y="1732499"/>
            <a:ext cx="516063" cy="516063"/>
          </a:xfrm>
          <a:custGeom>
            <a:avLst/>
            <a:gdLst/>
            <a:ahLst/>
            <a:cxnLst/>
            <a:rect l="l" t="t" r="r" b="b"/>
            <a:pathLst>
              <a:path w="516063" h="516063">
                <a:moveTo>
                  <a:pt x="258032" y="0"/>
                </a:moveTo>
                <a:lnTo>
                  <a:pt x="258032" y="0"/>
                </a:lnTo>
                <a:cubicBezTo>
                  <a:pt x="400443" y="0"/>
                  <a:pt x="516063" y="115620"/>
                  <a:pt x="516063" y="258032"/>
                </a:cubicBezTo>
                <a:lnTo>
                  <a:pt x="516063" y="258032"/>
                </a:lnTo>
                <a:cubicBezTo>
                  <a:pt x="516063" y="400443"/>
                  <a:pt x="400443" y="516063"/>
                  <a:pt x="258032" y="516063"/>
                </a:cubicBezTo>
                <a:lnTo>
                  <a:pt x="258032" y="516063"/>
                </a:lnTo>
                <a:cubicBezTo>
                  <a:pt x="115620" y="516063"/>
                  <a:pt x="0" y="400443"/>
                  <a:pt x="0" y="258032"/>
                </a:cubicBezTo>
                <a:lnTo>
                  <a:pt x="0" y="258032"/>
                </a:lnTo>
                <a:cubicBezTo>
                  <a:pt x="0" y="115620"/>
                  <a:pt x="115620" y="0"/>
                  <a:pt x="258032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036" y="1879946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93524" y="110585"/>
                </a:moveTo>
                <a:cubicBezTo>
                  <a:pt x="193524" y="64810"/>
                  <a:pt x="156360" y="27646"/>
                  <a:pt x="110585" y="27646"/>
                </a:cubicBezTo>
                <a:cubicBezTo>
                  <a:pt x="64810" y="27646"/>
                  <a:pt x="27646" y="64810"/>
                  <a:pt x="27646" y="110585"/>
                </a:cubicBezTo>
                <a:cubicBezTo>
                  <a:pt x="27646" y="156360"/>
                  <a:pt x="64810" y="193524"/>
                  <a:pt x="110585" y="193524"/>
                </a:cubicBezTo>
                <a:cubicBezTo>
                  <a:pt x="156360" y="193524"/>
                  <a:pt x="193524" y="156360"/>
                  <a:pt x="193524" y="110585"/>
                </a:cubicBezTo>
                <a:close/>
                <a:moveTo>
                  <a:pt x="0" y="110585"/>
                </a:moveTo>
                <a:cubicBezTo>
                  <a:pt x="0" y="49551"/>
                  <a:pt x="49551" y="0"/>
                  <a:pt x="110585" y="0"/>
                </a:cubicBezTo>
                <a:cubicBezTo>
                  <a:pt x="171619" y="0"/>
                  <a:pt x="221170" y="49551"/>
                  <a:pt x="221170" y="110585"/>
                </a:cubicBezTo>
                <a:cubicBezTo>
                  <a:pt x="221170" y="171619"/>
                  <a:pt x="171619" y="221170"/>
                  <a:pt x="110585" y="221170"/>
                </a:cubicBezTo>
                <a:cubicBezTo>
                  <a:pt x="49551" y="221170"/>
                  <a:pt x="0" y="171619"/>
                  <a:pt x="0" y="110585"/>
                </a:cubicBezTo>
                <a:close/>
                <a:moveTo>
                  <a:pt x="110585" y="145143"/>
                </a:moveTo>
                <a:cubicBezTo>
                  <a:pt x="129658" y="145143"/>
                  <a:pt x="145143" y="129658"/>
                  <a:pt x="145143" y="110585"/>
                </a:cubicBezTo>
                <a:cubicBezTo>
                  <a:pt x="145143" y="91512"/>
                  <a:pt x="129658" y="76027"/>
                  <a:pt x="110585" y="76027"/>
                </a:cubicBezTo>
                <a:cubicBezTo>
                  <a:pt x="91512" y="76027"/>
                  <a:pt x="76027" y="91512"/>
                  <a:pt x="76027" y="110585"/>
                </a:cubicBezTo>
                <a:cubicBezTo>
                  <a:pt x="76027" y="129658"/>
                  <a:pt x="91512" y="145143"/>
                  <a:pt x="110585" y="145143"/>
                </a:cubicBezTo>
                <a:close/>
                <a:moveTo>
                  <a:pt x="110585" y="48381"/>
                </a:moveTo>
                <a:cubicBezTo>
                  <a:pt x="144916" y="48381"/>
                  <a:pt x="172789" y="76254"/>
                  <a:pt x="172789" y="110585"/>
                </a:cubicBezTo>
                <a:cubicBezTo>
                  <a:pt x="172789" y="144916"/>
                  <a:pt x="144916" y="172789"/>
                  <a:pt x="110585" y="172789"/>
                </a:cubicBezTo>
                <a:cubicBezTo>
                  <a:pt x="76254" y="172789"/>
                  <a:pt x="48381" y="144916"/>
                  <a:pt x="48381" y="110585"/>
                </a:cubicBezTo>
                <a:cubicBezTo>
                  <a:pt x="48381" y="76254"/>
                  <a:pt x="76254" y="48381"/>
                  <a:pt x="110585" y="48381"/>
                </a:cubicBezTo>
                <a:close/>
                <a:moveTo>
                  <a:pt x="96762" y="110585"/>
                </a:moveTo>
                <a:cubicBezTo>
                  <a:pt x="96762" y="102956"/>
                  <a:pt x="102956" y="96762"/>
                  <a:pt x="110585" y="96762"/>
                </a:cubicBezTo>
                <a:cubicBezTo>
                  <a:pt x="118214" y="96762"/>
                  <a:pt x="124408" y="102956"/>
                  <a:pt x="124408" y="110585"/>
                </a:cubicBezTo>
                <a:cubicBezTo>
                  <a:pt x="124408" y="118214"/>
                  <a:pt x="118214" y="124408"/>
                  <a:pt x="110585" y="124408"/>
                </a:cubicBezTo>
                <a:cubicBezTo>
                  <a:pt x="102956" y="124408"/>
                  <a:pt x="96762" y="118214"/>
                  <a:pt x="96762" y="110585"/>
                </a:cubicBezTo>
                <a:close/>
              </a:path>
            </a:pathLst>
          </a:custGeom>
          <a:solidFill>
            <a:srgbClr val="FDFDFD"/>
          </a:solidFill>
          <a:ln/>
        </p:spPr>
      </p:sp>
      <p:sp>
        <p:nvSpPr>
          <p:cNvPr id="14" name="Text 12"/>
          <p:cNvSpPr/>
          <p:nvPr/>
        </p:nvSpPr>
        <p:spPr>
          <a:xfrm>
            <a:off x="7273961" y="1732499"/>
            <a:ext cx="1833868" cy="368617"/>
          </a:xfrm>
          <a:prstGeom prst="rect">
            <a:avLst/>
          </a:prstGeom>
          <a:noFill/>
          <a:ln/>
        </p:spPr>
        <p:txBody>
          <a:bodyPr wrap="square" lIns="0" tIns="73723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3589" y="2469732"/>
            <a:ext cx="5031619" cy="810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 people analytics capabilities and provide actionable insights that support HR strategy, workforce planning, and organizational decision-making.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8617" y="3868172"/>
            <a:ext cx="5575329" cy="2985796"/>
          </a:xfrm>
          <a:custGeom>
            <a:avLst/>
            <a:gdLst/>
            <a:ahLst/>
            <a:cxnLst/>
            <a:rect l="l" t="t" r="r" b="b"/>
            <a:pathLst>
              <a:path w="5575329" h="2985796">
                <a:moveTo>
                  <a:pt x="73719" y="0"/>
                </a:moveTo>
                <a:lnTo>
                  <a:pt x="5501609" y="0"/>
                </a:lnTo>
                <a:cubicBezTo>
                  <a:pt x="5542324" y="0"/>
                  <a:pt x="5575329" y="33005"/>
                  <a:pt x="5575329" y="73719"/>
                </a:cubicBezTo>
                <a:lnTo>
                  <a:pt x="5575329" y="2912077"/>
                </a:lnTo>
                <a:cubicBezTo>
                  <a:pt x="5575329" y="2952791"/>
                  <a:pt x="5542324" y="2985796"/>
                  <a:pt x="5501609" y="2985796"/>
                </a:cubicBezTo>
                <a:lnTo>
                  <a:pt x="73719" y="2985796"/>
                </a:lnTo>
                <a:cubicBezTo>
                  <a:pt x="33005" y="2985796"/>
                  <a:pt x="0" y="2952791"/>
                  <a:pt x="0" y="2912077"/>
                </a:cubicBezTo>
                <a:lnTo>
                  <a:pt x="0" y="73719"/>
                </a:lnTo>
                <a:cubicBezTo>
                  <a:pt x="0" y="33033"/>
                  <a:pt x="33033" y="0"/>
                  <a:pt x="73719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029" y="4218244"/>
            <a:ext cx="207347" cy="184308"/>
          </a:xfrm>
          <a:custGeom>
            <a:avLst/>
            <a:gdLst/>
            <a:ahLst/>
            <a:cxnLst/>
            <a:rect l="l" t="t" r="r" b="b"/>
            <a:pathLst>
              <a:path w="207347" h="184308">
                <a:moveTo>
                  <a:pt x="184452" y="86395"/>
                </a:moveTo>
                <a:lnTo>
                  <a:pt x="121096" y="86395"/>
                </a:lnTo>
                <a:cubicBezTo>
                  <a:pt x="114725" y="86395"/>
                  <a:pt x="109577" y="81247"/>
                  <a:pt x="109577" y="74875"/>
                </a:cubicBezTo>
                <a:lnTo>
                  <a:pt x="109577" y="11519"/>
                </a:lnTo>
                <a:cubicBezTo>
                  <a:pt x="109577" y="5148"/>
                  <a:pt x="114761" y="-72"/>
                  <a:pt x="121060" y="756"/>
                </a:cubicBezTo>
                <a:cubicBezTo>
                  <a:pt x="159578" y="5868"/>
                  <a:pt x="190104" y="36394"/>
                  <a:pt x="195216" y="74911"/>
                </a:cubicBezTo>
                <a:cubicBezTo>
                  <a:pt x="196044" y="81211"/>
                  <a:pt x="190824" y="86395"/>
                  <a:pt x="184452" y="86395"/>
                </a:cubicBezTo>
                <a:close/>
                <a:moveTo>
                  <a:pt x="80131" y="13391"/>
                </a:moveTo>
                <a:cubicBezTo>
                  <a:pt x="86647" y="12023"/>
                  <a:pt x="92298" y="17351"/>
                  <a:pt x="92298" y="24010"/>
                </a:cubicBezTo>
                <a:lnTo>
                  <a:pt x="92298" y="95034"/>
                </a:lnTo>
                <a:cubicBezTo>
                  <a:pt x="92298" y="97050"/>
                  <a:pt x="93018" y="98994"/>
                  <a:pt x="94278" y="100542"/>
                </a:cubicBezTo>
                <a:lnTo>
                  <a:pt x="141831" y="157922"/>
                </a:lnTo>
                <a:cubicBezTo>
                  <a:pt x="146043" y="162998"/>
                  <a:pt x="145143" y="170665"/>
                  <a:pt x="139347" y="173797"/>
                </a:cubicBezTo>
                <a:cubicBezTo>
                  <a:pt x="127072" y="180493"/>
                  <a:pt x="112997" y="184308"/>
                  <a:pt x="98058" y="184308"/>
                </a:cubicBezTo>
                <a:cubicBezTo>
                  <a:pt x="50361" y="184308"/>
                  <a:pt x="11663" y="145611"/>
                  <a:pt x="11663" y="97914"/>
                </a:cubicBezTo>
                <a:cubicBezTo>
                  <a:pt x="11663" y="56336"/>
                  <a:pt x="41001" y="21635"/>
                  <a:pt x="80131" y="13391"/>
                </a:cubicBezTo>
                <a:close/>
                <a:moveTo>
                  <a:pt x="171997" y="103673"/>
                </a:moveTo>
                <a:lnTo>
                  <a:pt x="195036" y="103673"/>
                </a:lnTo>
                <a:cubicBezTo>
                  <a:pt x="201695" y="103673"/>
                  <a:pt x="207023" y="109325"/>
                  <a:pt x="205655" y="115841"/>
                </a:cubicBezTo>
                <a:cubicBezTo>
                  <a:pt x="201983" y="133264"/>
                  <a:pt x="193056" y="148743"/>
                  <a:pt x="180601" y="160550"/>
                </a:cubicBezTo>
                <a:cubicBezTo>
                  <a:pt x="176173" y="164762"/>
                  <a:pt x="169225" y="163862"/>
                  <a:pt x="165338" y="159146"/>
                </a:cubicBezTo>
                <a:lnTo>
                  <a:pt x="134955" y="122536"/>
                </a:lnTo>
                <a:cubicBezTo>
                  <a:pt x="128728" y="115013"/>
                  <a:pt x="134092" y="103673"/>
                  <a:pt x="143811" y="103673"/>
                </a:cubicBezTo>
                <a:lnTo>
                  <a:pt x="171961" y="10367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93896" y="4163066"/>
            <a:ext cx="486574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Focus Areas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510" y="4679015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demographics and diversity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510" y="5084493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trends and termination patterns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3510" y="5489971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 and salary distribution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3510" y="5895450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distribution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510" y="6300928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attrition insights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0265" y="3868172"/>
            <a:ext cx="5556898" cy="2985796"/>
          </a:xfrm>
          <a:custGeom>
            <a:avLst/>
            <a:gdLst/>
            <a:ahLst/>
            <a:cxnLst/>
            <a:rect l="l" t="t" r="r" b="b"/>
            <a:pathLst>
              <a:path w="5556898" h="2985796">
                <a:moveTo>
                  <a:pt x="36862" y="0"/>
                </a:moveTo>
                <a:lnTo>
                  <a:pt x="5483179" y="0"/>
                </a:lnTo>
                <a:cubicBezTo>
                  <a:pt x="5523893" y="0"/>
                  <a:pt x="5556898" y="33005"/>
                  <a:pt x="5556898" y="73719"/>
                </a:cubicBezTo>
                <a:lnTo>
                  <a:pt x="5556898" y="2912077"/>
                </a:lnTo>
                <a:cubicBezTo>
                  <a:pt x="5556898" y="2952791"/>
                  <a:pt x="5523893" y="2985796"/>
                  <a:pt x="5483179" y="2985796"/>
                </a:cubicBezTo>
                <a:lnTo>
                  <a:pt x="36862" y="2985796"/>
                </a:lnTo>
                <a:cubicBezTo>
                  <a:pt x="16504" y="2985796"/>
                  <a:pt x="0" y="2969292"/>
                  <a:pt x="0" y="29489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0265" y="3868172"/>
            <a:ext cx="36862" cy="2985796"/>
          </a:xfrm>
          <a:custGeom>
            <a:avLst/>
            <a:gdLst/>
            <a:ahLst/>
            <a:cxnLst/>
            <a:rect l="l" t="t" r="r" b="b"/>
            <a:pathLst>
              <a:path w="36862" h="2985796">
                <a:moveTo>
                  <a:pt x="36862" y="0"/>
                </a:moveTo>
                <a:lnTo>
                  <a:pt x="36862" y="0"/>
                </a:lnTo>
                <a:lnTo>
                  <a:pt x="36862" y="2985796"/>
                </a:lnTo>
                <a:lnTo>
                  <a:pt x="36862" y="2985796"/>
                </a:lnTo>
                <a:cubicBezTo>
                  <a:pt x="16504" y="2985796"/>
                  <a:pt x="0" y="2969292"/>
                  <a:pt x="0" y="29489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73589" y="4588012"/>
            <a:ext cx="516063" cy="516063"/>
          </a:xfrm>
          <a:custGeom>
            <a:avLst/>
            <a:gdLst/>
            <a:ahLst/>
            <a:cxnLst/>
            <a:rect l="l" t="t" r="r" b="b"/>
            <a:pathLst>
              <a:path w="516063" h="516063">
                <a:moveTo>
                  <a:pt x="258032" y="0"/>
                </a:moveTo>
                <a:lnTo>
                  <a:pt x="258032" y="0"/>
                </a:lnTo>
                <a:cubicBezTo>
                  <a:pt x="400443" y="0"/>
                  <a:pt x="516063" y="115620"/>
                  <a:pt x="516063" y="258032"/>
                </a:cubicBezTo>
                <a:lnTo>
                  <a:pt x="516063" y="258032"/>
                </a:lnTo>
                <a:cubicBezTo>
                  <a:pt x="516063" y="400443"/>
                  <a:pt x="400443" y="516063"/>
                  <a:pt x="258032" y="516063"/>
                </a:cubicBezTo>
                <a:lnTo>
                  <a:pt x="258032" y="516063"/>
                </a:lnTo>
                <a:cubicBezTo>
                  <a:pt x="115620" y="516063"/>
                  <a:pt x="0" y="400443"/>
                  <a:pt x="0" y="258032"/>
                </a:cubicBezTo>
                <a:lnTo>
                  <a:pt x="0" y="258032"/>
                </a:lnTo>
                <a:cubicBezTo>
                  <a:pt x="0" y="115620"/>
                  <a:pt x="115620" y="0"/>
                  <a:pt x="258032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1036" y="4735459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0"/>
                </a:moveTo>
                <a:cubicBezTo>
                  <a:pt x="112572" y="0"/>
                  <a:pt x="114559" y="432"/>
                  <a:pt x="116373" y="1253"/>
                </a:cubicBezTo>
                <a:lnTo>
                  <a:pt x="197757" y="35767"/>
                </a:lnTo>
                <a:cubicBezTo>
                  <a:pt x="207261" y="39785"/>
                  <a:pt x="214345" y="49159"/>
                  <a:pt x="214302" y="60476"/>
                </a:cubicBezTo>
                <a:cubicBezTo>
                  <a:pt x="214086" y="103328"/>
                  <a:pt x="196461" y="181731"/>
                  <a:pt x="122032" y="217369"/>
                </a:cubicBezTo>
                <a:cubicBezTo>
                  <a:pt x="114818" y="220824"/>
                  <a:pt x="106438" y="220824"/>
                  <a:pt x="99224" y="217369"/>
                </a:cubicBezTo>
                <a:cubicBezTo>
                  <a:pt x="24752" y="181731"/>
                  <a:pt x="7171" y="103328"/>
                  <a:pt x="6955" y="60476"/>
                </a:cubicBezTo>
                <a:cubicBezTo>
                  <a:pt x="6912" y="49159"/>
                  <a:pt x="13996" y="39785"/>
                  <a:pt x="23499" y="35767"/>
                </a:cubicBezTo>
                <a:lnTo>
                  <a:pt x="104840" y="1253"/>
                </a:lnTo>
                <a:cubicBezTo>
                  <a:pt x="106654" y="432"/>
                  <a:pt x="108598" y="0"/>
                  <a:pt x="110585" y="0"/>
                </a:cubicBezTo>
                <a:close/>
                <a:moveTo>
                  <a:pt x="110585" y="28856"/>
                </a:moveTo>
                <a:lnTo>
                  <a:pt x="110585" y="192185"/>
                </a:lnTo>
                <a:cubicBezTo>
                  <a:pt x="170197" y="163329"/>
                  <a:pt x="186223" y="99397"/>
                  <a:pt x="186612" y="61124"/>
                </a:cubicBezTo>
                <a:lnTo>
                  <a:pt x="110585" y="28899"/>
                </a:lnTo>
                <a:lnTo>
                  <a:pt x="110585" y="28899"/>
                </a:lnTo>
                <a:close/>
              </a:path>
            </a:pathLst>
          </a:custGeom>
          <a:solidFill>
            <a:srgbClr val="FDFDFD"/>
          </a:solidFill>
          <a:ln/>
        </p:spPr>
      </p:sp>
      <p:sp>
        <p:nvSpPr>
          <p:cNvPr id="28" name="Text 26"/>
          <p:cNvSpPr/>
          <p:nvPr/>
        </p:nvSpPr>
        <p:spPr>
          <a:xfrm>
            <a:off x="7273961" y="4588012"/>
            <a:ext cx="1327020" cy="368617"/>
          </a:xfrm>
          <a:prstGeom prst="rect">
            <a:avLst/>
          </a:prstGeom>
          <a:noFill/>
          <a:ln/>
        </p:spPr>
        <p:txBody>
          <a:bodyPr wrap="square" lIns="0" tIns="73723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3589" y="5325246"/>
            <a:ext cx="5031619" cy="810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6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data generation enables realistic people analytics without exposing real employee data, ensuring complete privacy compliance.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03835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20383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9259" y="23812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238125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89560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workforce demographics and diversity patterns to ensure balanced representation and inclusive workplace culture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0" y="203835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0" y="20383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58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08195" y="23812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5400" y="23812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Trends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0" y="289560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hiring and termination trends to understand workforce dynamics and identify potential talent gaps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3400" y="203835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3400" y="20383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93562" y="2381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A9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91600" y="238125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289560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salary and compensation patterns to ensure competitive and equitable pay structures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11480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1000" y="41148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4362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21281" y="44577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" y="44577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97205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performance distribution across education levels to identify training and development opportunities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67200" y="411480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67200" y="41148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5800" y="4362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08671" y="44577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05400" y="445770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95800" y="4972050"/>
            <a:ext cx="3276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geographic workforce distribution to optimize regional HR policies and resource allocation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53400" y="411480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1752594"/>
                </a:lnTo>
                <a:cubicBezTo>
                  <a:pt x="3657600" y="1794681"/>
                  <a:pt x="3623481" y="1828800"/>
                  <a:pt x="35813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53400" y="41148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36" name="Shape 34"/>
          <p:cNvSpPr/>
          <p:nvPr/>
        </p:nvSpPr>
        <p:spPr>
          <a:xfrm>
            <a:off x="8382000" y="4362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92847" y="44577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A9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91600" y="4457700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82000" y="4972050"/>
            <a:ext cx="3276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data-driven insights for HR strategy and workforce optimization initiatives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Data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5600700" cy="4362450"/>
          </a:xfrm>
          <a:custGeom>
            <a:avLst/>
            <a:gdLst/>
            <a:ahLst/>
            <a:cxnLst/>
            <a:rect l="l" t="t" r="r" b="b"/>
            <a:pathLst>
              <a:path w="5600700" h="436245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4286238"/>
                </a:lnTo>
                <a:cubicBezTo>
                  <a:pt x="5600700" y="4328329"/>
                  <a:pt x="5566579" y="4362450"/>
                  <a:pt x="5524488" y="4362450"/>
                </a:cubicBezTo>
                <a:lnTo>
                  <a:pt x="76212" y="4362450"/>
                </a:lnTo>
                <a:cubicBezTo>
                  <a:pt x="34121" y="4362450"/>
                  <a:pt x="0" y="4328329"/>
                  <a:pt x="0" y="4286238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5" name="Shape 3"/>
          <p:cNvSpPr/>
          <p:nvPr/>
        </p:nvSpPr>
        <p:spPr>
          <a:xfrm>
            <a:off x="621506" y="2797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47725" y="2740819"/>
            <a:ext cx="501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Python-Based Generation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31979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synthetic HR dataset was generated using Python with realistic business rules to simulate corporate workforce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3907513"/>
            <a:ext cx="5143500" cy="533400"/>
          </a:xfrm>
          <a:custGeom>
            <a:avLst/>
            <a:gdLst/>
            <a:ahLst/>
            <a:cxnLst/>
            <a:rect l="l" t="t" r="r" b="b"/>
            <a:pathLst>
              <a:path w="5143500" h="5334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457198"/>
                </a:lnTo>
                <a:cubicBezTo>
                  <a:pt x="5143500" y="499283"/>
                  <a:pt x="5109383" y="533400"/>
                  <a:pt x="50672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5813" y="4078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" y="4059913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realistic analytics without exposing real employee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409700"/>
            <a:ext cx="5600700" cy="4362450"/>
          </a:xfrm>
          <a:custGeom>
            <a:avLst/>
            <a:gdLst/>
            <a:ahLst/>
            <a:cxnLst/>
            <a:rect l="l" t="t" r="r" b="b"/>
            <a:pathLst>
              <a:path w="5600700" h="436245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4286238"/>
                </a:lnTo>
                <a:cubicBezTo>
                  <a:pt x="5600700" y="4328329"/>
                  <a:pt x="5566579" y="4362450"/>
                  <a:pt x="5524488" y="4362450"/>
                </a:cubicBezTo>
                <a:lnTo>
                  <a:pt x="76212" y="4362450"/>
                </a:lnTo>
                <a:cubicBezTo>
                  <a:pt x="34121" y="4362450"/>
                  <a:pt x="0" y="4328329"/>
                  <a:pt x="0" y="4286238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8900" y="169533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7025" y="1638300"/>
            <a:ext cx="501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Simulation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62713" y="21715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7513" y="2133481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 Assignment: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Probabilistic department and job role assignment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2713" y="27811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7513" y="2743081"/>
            <a:ext cx="4143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Constraints: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Role-specific education requirements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62713" y="31431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767513" y="3105031"/>
            <a:ext cx="473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Modeling: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Ranges per title with education and gender modifiers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62713" y="35050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7513" y="3466981"/>
            <a:ext cx="4305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Distribution: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Year-based simulation for workforce growth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62713" y="38670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7513" y="3828931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Attrition Model: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Termination simulation (~11% attrition rate)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2713" y="42289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767513" y="4190881"/>
            <a:ext cx="4105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Ratings: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Realistic distribution across workforce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92455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476251"/>
                </a:lnTo>
                <a:cubicBezTo>
                  <a:pt x="11410950" y="518334"/>
                  <a:pt x="11376834" y="552450"/>
                  <a:pt x="113347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59245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" y="6086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009650" y="6076950"/>
            <a:ext cx="9248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approach enables realistic people analytics without exposing real employee data, ensuring complete privacy compliance.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 and Attributes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89472"/>
            <a:ext cx="11430000" cy="1190625"/>
          </a:xfrm>
          <a:custGeom>
            <a:avLst/>
            <a:gdLst/>
            <a:ahLst/>
            <a:cxnLst/>
            <a:rect l="l" t="t" r="r" b="b"/>
            <a:pathLst>
              <a:path w="11430000" h="1190625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14425"/>
                </a:lnTo>
                <a:cubicBezTo>
                  <a:pt x="11430000" y="1156481"/>
                  <a:pt x="11395856" y="1190625"/>
                  <a:pt x="1135380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5" name="Shape 3"/>
          <p:cNvSpPr/>
          <p:nvPr/>
        </p:nvSpPr>
        <p:spPr>
          <a:xfrm>
            <a:off x="645319" y="177510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47725" y="1718072"/>
            <a:ext cx="10848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Table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2175153"/>
            <a:ext cx="110585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Employee-level records containing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highlight>
                  <a:srgbClr val="D9770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salary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highlight>
                  <a:srgbClr val="D9770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performance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highlight>
                  <a:srgbClr val="D9770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tenure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highlight>
                  <a:srgbClr val="D9770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termination status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highlight>
                  <a:srgbClr val="D9770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demographics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2872860"/>
            <a:ext cx="2724150" cy="1295400"/>
          </a:xfrm>
          <a:custGeom>
            <a:avLst/>
            <a:gdLst/>
            <a:ahLst/>
            <a:cxnLst/>
            <a:rect l="l" t="t" r="r" b="b"/>
            <a:pathLst>
              <a:path w="2724150" h="1295400">
                <a:moveTo>
                  <a:pt x="38100" y="0"/>
                </a:moveTo>
                <a:lnTo>
                  <a:pt x="2647955" y="0"/>
                </a:lnTo>
                <a:cubicBezTo>
                  <a:pt x="2690008" y="0"/>
                  <a:pt x="2724150" y="34142"/>
                  <a:pt x="2724150" y="76195"/>
                </a:cubicBezTo>
                <a:lnTo>
                  <a:pt x="2724150" y="1219205"/>
                </a:lnTo>
                <a:cubicBezTo>
                  <a:pt x="2724150" y="1261286"/>
                  <a:pt x="2690036" y="1295400"/>
                  <a:pt x="26479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0050" y="287286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310146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78594" y="-23812"/>
                </a:moveTo>
                <a:cubicBezTo>
                  <a:pt x="172008" y="-23812"/>
                  <a:pt x="166688" y="-18492"/>
                  <a:pt x="166688" y="-11906"/>
                </a:cubicBezTo>
                <a:cubicBezTo>
                  <a:pt x="166688" y="-5321"/>
                  <a:pt x="172008" y="0"/>
                  <a:pt x="178594" y="0"/>
                </a:cubicBezTo>
                <a:lnTo>
                  <a:pt x="197458" y="0"/>
                </a:lnTo>
                <a:lnTo>
                  <a:pt x="176361" y="21096"/>
                </a:lnTo>
                <a:cubicBezTo>
                  <a:pt x="166576" y="15255"/>
                  <a:pt x="155116" y="11906"/>
                  <a:pt x="142875" y="11906"/>
                </a:cubicBezTo>
                <a:cubicBezTo>
                  <a:pt x="129704" y="11906"/>
                  <a:pt x="117425" y="15813"/>
                  <a:pt x="107156" y="22510"/>
                </a:cubicBezTo>
                <a:cubicBezTo>
                  <a:pt x="96887" y="15813"/>
                  <a:pt x="84609" y="11906"/>
                  <a:pt x="71438" y="11906"/>
                </a:cubicBezTo>
                <a:cubicBezTo>
                  <a:pt x="35272" y="11906"/>
                  <a:pt x="5953" y="41225"/>
                  <a:pt x="5953" y="77391"/>
                </a:cubicBezTo>
                <a:cubicBezTo>
                  <a:pt x="5953" y="109500"/>
                  <a:pt x="29059" y="136215"/>
                  <a:pt x="59531" y="141796"/>
                </a:cubicBezTo>
                <a:lnTo>
                  <a:pt x="59531" y="154781"/>
                </a:lnTo>
                <a:lnTo>
                  <a:pt x="47625" y="154781"/>
                </a:lnTo>
                <a:cubicBezTo>
                  <a:pt x="41039" y="154781"/>
                  <a:pt x="35719" y="160102"/>
                  <a:pt x="35719" y="166688"/>
                </a:cubicBezTo>
                <a:cubicBezTo>
                  <a:pt x="35719" y="173273"/>
                  <a:pt x="41039" y="178594"/>
                  <a:pt x="47625" y="178594"/>
                </a:cubicBezTo>
                <a:lnTo>
                  <a:pt x="59531" y="178594"/>
                </a:lnTo>
                <a:lnTo>
                  <a:pt x="59531" y="190500"/>
                </a:lnTo>
                <a:cubicBezTo>
                  <a:pt x="59531" y="197086"/>
                  <a:pt x="64852" y="202406"/>
                  <a:pt x="71438" y="202406"/>
                </a:cubicBezTo>
                <a:cubicBezTo>
                  <a:pt x="78023" y="202406"/>
                  <a:pt x="83344" y="197086"/>
                  <a:pt x="83344" y="190500"/>
                </a:cubicBezTo>
                <a:lnTo>
                  <a:pt x="83344" y="178594"/>
                </a:lnTo>
                <a:lnTo>
                  <a:pt x="95250" y="178594"/>
                </a:lnTo>
                <a:cubicBezTo>
                  <a:pt x="101836" y="178594"/>
                  <a:pt x="107156" y="173273"/>
                  <a:pt x="107156" y="166688"/>
                </a:cubicBezTo>
                <a:cubicBezTo>
                  <a:pt x="107156" y="160102"/>
                  <a:pt x="101836" y="154781"/>
                  <a:pt x="95250" y="154781"/>
                </a:cubicBezTo>
                <a:lnTo>
                  <a:pt x="83344" y="154781"/>
                </a:lnTo>
                <a:lnTo>
                  <a:pt x="83344" y="141796"/>
                </a:lnTo>
                <a:cubicBezTo>
                  <a:pt x="92013" y="140196"/>
                  <a:pt x="100050" y="136922"/>
                  <a:pt x="107156" y="132271"/>
                </a:cubicBezTo>
                <a:cubicBezTo>
                  <a:pt x="117425" y="138968"/>
                  <a:pt x="129704" y="142875"/>
                  <a:pt x="142875" y="142875"/>
                </a:cubicBezTo>
                <a:cubicBezTo>
                  <a:pt x="179040" y="142875"/>
                  <a:pt x="208359" y="113556"/>
                  <a:pt x="208359" y="77391"/>
                </a:cubicBezTo>
                <a:cubicBezTo>
                  <a:pt x="208359" y="62099"/>
                  <a:pt x="203113" y="47997"/>
                  <a:pt x="194295" y="36835"/>
                </a:cubicBezTo>
                <a:lnTo>
                  <a:pt x="214313" y="16855"/>
                </a:lnTo>
                <a:lnTo>
                  <a:pt x="214313" y="35719"/>
                </a:lnTo>
                <a:cubicBezTo>
                  <a:pt x="214313" y="42304"/>
                  <a:pt x="219633" y="47625"/>
                  <a:pt x="226219" y="47625"/>
                </a:cubicBezTo>
                <a:cubicBezTo>
                  <a:pt x="232804" y="47625"/>
                  <a:pt x="238125" y="42304"/>
                  <a:pt x="238125" y="35719"/>
                </a:cubicBezTo>
                <a:lnTo>
                  <a:pt x="238125" y="-11906"/>
                </a:lnTo>
                <a:cubicBezTo>
                  <a:pt x="238125" y="-18492"/>
                  <a:pt x="232804" y="-23812"/>
                  <a:pt x="226219" y="-23812"/>
                </a:cubicBezTo>
                <a:lnTo>
                  <a:pt x="178594" y="-23812"/>
                </a:lnTo>
                <a:close/>
                <a:moveTo>
                  <a:pt x="125016" y="115044"/>
                </a:moveTo>
                <a:cubicBezTo>
                  <a:pt x="132531" y="104403"/>
                  <a:pt x="136922" y="91418"/>
                  <a:pt x="136922" y="77391"/>
                </a:cubicBezTo>
                <a:cubicBezTo>
                  <a:pt x="136922" y="63364"/>
                  <a:pt x="132531" y="50378"/>
                  <a:pt x="125016" y="39737"/>
                </a:cubicBezTo>
                <a:cubicBezTo>
                  <a:pt x="130448" y="37170"/>
                  <a:pt x="136475" y="35719"/>
                  <a:pt x="142875" y="35719"/>
                </a:cubicBezTo>
                <a:cubicBezTo>
                  <a:pt x="165906" y="35719"/>
                  <a:pt x="184547" y="54359"/>
                  <a:pt x="184547" y="77391"/>
                </a:cubicBezTo>
                <a:cubicBezTo>
                  <a:pt x="184547" y="100422"/>
                  <a:pt x="165906" y="119063"/>
                  <a:pt x="142875" y="119063"/>
                </a:cubicBezTo>
                <a:cubicBezTo>
                  <a:pt x="136475" y="119063"/>
                  <a:pt x="130411" y="117611"/>
                  <a:pt x="125016" y="115044"/>
                </a:cubicBezTo>
                <a:close/>
                <a:moveTo>
                  <a:pt x="107156" y="55922"/>
                </a:moveTo>
                <a:cubicBezTo>
                  <a:pt x="110951" y="62210"/>
                  <a:pt x="113109" y="69540"/>
                  <a:pt x="113109" y="77391"/>
                </a:cubicBezTo>
                <a:cubicBezTo>
                  <a:pt x="113109" y="85241"/>
                  <a:pt x="110951" y="92608"/>
                  <a:pt x="107156" y="98859"/>
                </a:cubicBezTo>
                <a:cubicBezTo>
                  <a:pt x="103361" y="92571"/>
                  <a:pt x="101203" y="85241"/>
                  <a:pt x="101203" y="77391"/>
                </a:cubicBezTo>
                <a:cubicBezTo>
                  <a:pt x="101203" y="69540"/>
                  <a:pt x="103361" y="62173"/>
                  <a:pt x="107156" y="55922"/>
                </a:cubicBezTo>
                <a:close/>
                <a:moveTo>
                  <a:pt x="89297" y="39737"/>
                </a:moveTo>
                <a:cubicBezTo>
                  <a:pt x="81781" y="50378"/>
                  <a:pt x="77391" y="63364"/>
                  <a:pt x="77391" y="77391"/>
                </a:cubicBezTo>
                <a:cubicBezTo>
                  <a:pt x="77391" y="91418"/>
                  <a:pt x="81781" y="104403"/>
                  <a:pt x="89297" y="115044"/>
                </a:cubicBezTo>
                <a:cubicBezTo>
                  <a:pt x="83902" y="117611"/>
                  <a:pt x="77837" y="119063"/>
                  <a:pt x="71438" y="119063"/>
                </a:cubicBezTo>
                <a:cubicBezTo>
                  <a:pt x="48406" y="119063"/>
                  <a:pt x="29766" y="100422"/>
                  <a:pt x="29766" y="77391"/>
                </a:cubicBezTo>
                <a:cubicBezTo>
                  <a:pt x="29766" y="54359"/>
                  <a:pt x="48406" y="35719"/>
                  <a:pt x="71438" y="35719"/>
                </a:cubicBezTo>
                <a:cubicBezTo>
                  <a:pt x="77837" y="35719"/>
                  <a:pt x="83902" y="37170"/>
                  <a:pt x="89297" y="39737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306336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4443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7491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Age &amp; Age Groups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5650" y="2872860"/>
            <a:ext cx="2724150" cy="1295400"/>
          </a:xfrm>
          <a:custGeom>
            <a:avLst/>
            <a:gdLst/>
            <a:ahLst/>
            <a:cxnLst/>
            <a:rect l="l" t="t" r="r" b="b"/>
            <a:pathLst>
              <a:path w="2724150" h="1295400">
                <a:moveTo>
                  <a:pt x="38100" y="0"/>
                </a:moveTo>
                <a:lnTo>
                  <a:pt x="2647955" y="0"/>
                </a:lnTo>
                <a:cubicBezTo>
                  <a:pt x="2690008" y="0"/>
                  <a:pt x="2724150" y="34142"/>
                  <a:pt x="2724150" y="76195"/>
                </a:cubicBezTo>
                <a:lnTo>
                  <a:pt x="2724150" y="1219205"/>
                </a:lnTo>
                <a:cubicBezTo>
                  <a:pt x="2724150" y="1261286"/>
                  <a:pt x="2690036" y="1295400"/>
                  <a:pt x="26479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5650" y="287286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7106" y="310146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857625" y="306336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5200" y="34443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Education Level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5200" y="37491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Degree Type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1250" y="2872860"/>
            <a:ext cx="2724150" cy="1295400"/>
          </a:xfrm>
          <a:custGeom>
            <a:avLst/>
            <a:gdLst/>
            <a:ahLst/>
            <a:cxnLst/>
            <a:rect l="l" t="t" r="r" b="b"/>
            <a:pathLst>
              <a:path w="2724150" h="1295400">
                <a:moveTo>
                  <a:pt x="38100" y="0"/>
                </a:moveTo>
                <a:lnTo>
                  <a:pt x="2647955" y="0"/>
                </a:lnTo>
                <a:cubicBezTo>
                  <a:pt x="2690008" y="0"/>
                  <a:pt x="2724150" y="34142"/>
                  <a:pt x="2724150" y="76195"/>
                </a:cubicBezTo>
                <a:lnTo>
                  <a:pt x="2724150" y="1219205"/>
                </a:lnTo>
                <a:cubicBezTo>
                  <a:pt x="2724150" y="1261286"/>
                  <a:pt x="2690036" y="1295400"/>
                  <a:pt x="26479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1250" y="287286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4613" y="31014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3" name="Text 21"/>
          <p:cNvSpPr/>
          <p:nvPr/>
        </p:nvSpPr>
        <p:spPr>
          <a:xfrm>
            <a:off x="6753225" y="306336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4443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Department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37491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Job Title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86850" y="2872860"/>
            <a:ext cx="2724150" cy="1295400"/>
          </a:xfrm>
          <a:custGeom>
            <a:avLst/>
            <a:gdLst/>
            <a:ahLst/>
            <a:cxnLst/>
            <a:rect l="l" t="t" r="r" b="b"/>
            <a:pathLst>
              <a:path w="2724150" h="1295400">
                <a:moveTo>
                  <a:pt x="38100" y="0"/>
                </a:moveTo>
                <a:lnTo>
                  <a:pt x="2647955" y="0"/>
                </a:lnTo>
                <a:cubicBezTo>
                  <a:pt x="2690008" y="0"/>
                  <a:pt x="2724150" y="34142"/>
                  <a:pt x="2724150" y="76195"/>
                </a:cubicBezTo>
                <a:lnTo>
                  <a:pt x="2724150" y="1219205"/>
                </a:lnTo>
                <a:cubicBezTo>
                  <a:pt x="2724150" y="1261286"/>
                  <a:pt x="2690036" y="1295400"/>
                  <a:pt x="26479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86850" y="287286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8" name="Shape 26"/>
          <p:cNvSpPr/>
          <p:nvPr/>
        </p:nvSpPr>
        <p:spPr>
          <a:xfrm>
            <a:off x="9344025" y="310146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9" name="Text 27"/>
          <p:cNvSpPr/>
          <p:nvPr/>
        </p:nvSpPr>
        <p:spPr>
          <a:xfrm>
            <a:off x="9648825" y="306336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96400" y="34443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96400" y="374916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Geographic Region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4358760"/>
            <a:ext cx="11430000" cy="1295400"/>
          </a:xfrm>
          <a:custGeom>
            <a:avLst/>
            <a:gdLst/>
            <a:ahLst/>
            <a:cxnLst/>
            <a:rect l="l" t="t" r="r" b="b"/>
            <a:pathLst>
              <a:path w="11430000" h="1295400">
                <a:moveTo>
                  <a:pt x="76195" y="0"/>
                </a:moveTo>
                <a:lnTo>
                  <a:pt x="11353805" y="0"/>
                </a:lnTo>
                <a:cubicBezTo>
                  <a:pt x="11395858" y="0"/>
                  <a:pt x="11430000" y="34142"/>
                  <a:pt x="11430000" y="76195"/>
                </a:cubicBezTo>
                <a:lnTo>
                  <a:pt x="11430000" y="1219205"/>
                </a:lnTo>
                <a:cubicBezTo>
                  <a:pt x="11430000" y="1261286"/>
                  <a:pt x="11395886" y="1295400"/>
                  <a:pt x="113538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219" y="45873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09625" y="4549260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Attributes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4930260"/>
            <a:ext cx="5448300" cy="533400"/>
          </a:xfrm>
          <a:custGeom>
            <a:avLst/>
            <a:gdLst/>
            <a:ahLst/>
            <a:cxnLst/>
            <a:rect l="l" t="t" r="r" b="b"/>
            <a:pathLst>
              <a:path w="5448300" h="533400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457198"/>
                </a:lnTo>
                <a:cubicBezTo>
                  <a:pt x="5448300" y="499283"/>
                  <a:pt x="5414183" y="533400"/>
                  <a:pt x="53720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726281" y="511123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182166" y="32147"/>
                </a:moveTo>
                <a:cubicBezTo>
                  <a:pt x="186619" y="32147"/>
                  <a:pt x="190202" y="35730"/>
                  <a:pt x="190202" y="40184"/>
                </a:cubicBezTo>
                <a:lnTo>
                  <a:pt x="190202" y="56257"/>
                </a:lnTo>
                <a:lnTo>
                  <a:pt x="206276" y="56257"/>
                </a:lnTo>
                <a:cubicBezTo>
                  <a:pt x="210729" y="56257"/>
                  <a:pt x="214313" y="59840"/>
                  <a:pt x="214313" y="64294"/>
                </a:cubicBezTo>
                <a:cubicBezTo>
                  <a:pt x="214313" y="68747"/>
                  <a:pt x="210729" y="72330"/>
                  <a:pt x="206276" y="72330"/>
                </a:cubicBezTo>
                <a:lnTo>
                  <a:pt x="190202" y="72330"/>
                </a:lnTo>
                <a:lnTo>
                  <a:pt x="190202" y="88404"/>
                </a:lnTo>
                <a:cubicBezTo>
                  <a:pt x="190202" y="92858"/>
                  <a:pt x="186619" y="96441"/>
                  <a:pt x="182166" y="96441"/>
                </a:cubicBezTo>
                <a:cubicBezTo>
                  <a:pt x="177712" y="96441"/>
                  <a:pt x="174129" y="92858"/>
                  <a:pt x="174129" y="88404"/>
                </a:cubicBezTo>
                <a:lnTo>
                  <a:pt x="174129" y="72330"/>
                </a:lnTo>
                <a:lnTo>
                  <a:pt x="158055" y="72330"/>
                </a:lnTo>
                <a:cubicBezTo>
                  <a:pt x="153602" y="72330"/>
                  <a:pt x="150019" y="68747"/>
                  <a:pt x="150019" y="64294"/>
                </a:cubicBezTo>
                <a:cubicBezTo>
                  <a:pt x="150019" y="59840"/>
                  <a:pt x="153602" y="56257"/>
                  <a:pt x="158055" y="56257"/>
                </a:cubicBezTo>
                <a:lnTo>
                  <a:pt x="174129" y="56257"/>
                </a:lnTo>
                <a:lnTo>
                  <a:pt x="174129" y="40184"/>
                </a:lnTo>
                <a:cubicBezTo>
                  <a:pt x="174129" y="35730"/>
                  <a:pt x="177712" y="32147"/>
                  <a:pt x="182166" y="32147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7" name="Text 35"/>
          <p:cNvSpPr/>
          <p:nvPr/>
        </p:nvSpPr>
        <p:spPr>
          <a:xfrm>
            <a:off x="1052513" y="508266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Hire Date: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Employment start date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2200" y="4930260"/>
            <a:ext cx="5448300" cy="533400"/>
          </a:xfrm>
          <a:custGeom>
            <a:avLst/>
            <a:gdLst/>
            <a:ahLst/>
            <a:cxnLst/>
            <a:rect l="l" t="t" r="r" b="b"/>
            <a:pathLst>
              <a:path w="5448300" h="533400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457198"/>
                </a:lnTo>
                <a:cubicBezTo>
                  <a:pt x="5448300" y="499283"/>
                  <a:pt x="5414183" y="533400"/>
                  <a:pt x="53720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26981" y="511123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158055" y="56257"/>
                </a:moveTo>
                <a:lnTo>
                  <a:pt x="206276" y="56257"/>
                </a:lnTo>
                <a:cubicBezTo>
                  <a:pt x="210729" y="56257"/>
                  <a:pt x="214313" y="59840"/>
                  <a:pt x="214313" y="64294"/>
                </a:cubicBezTo>
                <a:cubicBezTo>
                  <a:pt x="214313" y="68747"/>
                  <a:pt x="210729" y="72330"/>
                  <a:pt x="206276" y="72330"/>
                </a:cubicBezTo>
                <a:lnTo>
                  <a:pt x="158055" y="72330"/>
                </a:lnTo>
                <a:cubicBezTo>
                  <a:pt x="153602" y="72330"/>
                  <a:pt x="150019" y="68747"/>
                  <a:pt x="150019" y="64294"/>
                </a:cubicBezTo>
                <a:cubicBezTo>
                  <a:pt x="150019" y="59840"/>
                  <a:pt x="153602" y="56257"/>
                  <a:pt x="158055" y="56257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653213" y="508266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Termination Date: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Separation date (if applicable)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84466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476251"/>
                </a:lnTo>
                <a:cubicBezTo>
                  <a:pt x="11410950" y="518334"/>
                  <a:pt x="11376834" y="552450"/>
                  <a:pt x="113347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84466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3" name="Shape 41"/>
          <p:cNvSpPr/>
          <p:nvPr/>
        </p:nvSpPr>
        <p:spPr>
          <a:xfrm>
            <a:off x="590550" y="60351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4" name="Text 42"/>
          <p:cNvSpPr/>
          <p:nvPr/>
        </p:nvSpPr>
        <p:spPr>
          <a:xfrm>
            <a:off x="819150" y="5997060"/>
            <a:ext cx="10915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Analysis: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structure supports comprehensive HR analysis across demographics, time, and geography.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Workforce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632584"/>
            <a:ext cx="3705225" cy="1419225"/>
          </a:xfrm>
          <a:custGeom>
            <a:avLst/>
            <a:gdLst/>
            <a:ahLst/>
            <a:cxnLst/>
            <a:rect l="l" t="t" r="r" b="b"/>
            <a:pathLst>
              <a:path w="3705225" h="1419225">
                <a:moveTo>
                  <a:pt x="76198" y="0"/>
                </a:moveTo>
                <a:lnTo>
                  <a:pt x="3629027" y="0"/>
                </a:lnTo>
                <a:cubicBezTo>
                  <a:pt x="3671110" y="0"/>
                  <a:pt x="3705225" y="34115"/>
                  <a:pt x="3705225" y="76198"/>
                </a:cubicBezTo>
                <a:lnTo>
                  <a:pt x="3705225" y="1343027"/>
                </a:lnTo>
                <a:cubicBezTo>
                  <a:pt x="3705225" y="1385110"/>
                  <a:pt x="3671110" y="1419225"/>
                  <a:pt x="362902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5" name="Shape 3"/>
          <p:cNvSpPr/>
          <p:nvPr/>
        </p:nvSpPr>
        <p:spPr>
          <a:xfrm>
            <a:off x="2058948" y="182308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2185036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Employees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5775" y="2451736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8,950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49341" y="1640204"/>
            <a:ext cx="3691890" cy="1405890"/>
          </a:xfrm>
          <a:custGeom>
            <a:avLst/>
            <a:gdLst/>
            <a:ahLst/>
            <a:cxnLst/>
            <a:rect l="l" t="t" r="r" b="b"/>
            <a:pathLst>
              <a:path w="3691890" h="1405890">
                <a:moveTo>
                  <a:pt x="76199" y="0"/>
                </a:moveTo>
                <a:lnTo>
                  <a:pt x="3615691" y="0"/>
                </a:lnTo>
                <a:cubicBezTo>
                  <a:pt x="3657774" y="0"/>
                  <a:pt x="3691890" y="34116"/>
                  <a:pt x="3691890" y="76199"/>
                </a:cubicBezTo>
                <a:lnTo>
                  <a:pt x="3691890" y="1329691"/>
                </a:lnTo>
                <a:cubicBezTo>
                  <a:pt x="3691890" y="1371774"/>
                  <a:pt x="3657774" y="1405890"/>
                  <a:pt x="3615691" y="1405890"/>
                </a:cubicBezTo>
                <a:lnTo>
                  <a:pt x="76199" y="1405890"/>
                </a:lnTo>
                <a:cubicBezTo>
                  <a:pt x="34116" y="1405890"/>
                  <a:pt x="0" y="1371774"/>
                  <a:pt x="0" y="132969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DA9C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19668" y="18383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5902" y="71438"/>
                </a:moveTo>
                <a:cubicBezTo>
                  <a:pt x="75902" y="34474"/>
                  <a:pt x="105912" y="4465"/>
                  <a:pt x="142875" y="4465"/>
                </a:cubicBezTo>
                <a:cubicBezTo>
                  <a:pt x="179838" y="4465"/>
                  <a:pt x="209848" y="34474"/>
                  <a:pt x="209848" y="71437"/>
                </a:cubicBezTo>
                <a:cubicBezTo>
                  <a:pt x="209848" y="108401"/>
                  <a:pt x="179838" y="138410"/>
                  <a:pt x="142875" y="138410"/>
                </a:cubicBezTo>
                <a:cubicBezTo>
                  <a:pt x="105912" y="138410"/>
                  <a:pt x="75902" y="108401"/>
                  <a:pt x="75902" y="71438"/>
                </a:cubicBezTo>
                <a:close/>
                <a:moveTo>
                  <a:pt x="26789" y="269174"/>
                </a:moveTo>
                <a:cubicBezTo>
                  <a:pt x="26789" y="214201"/>
                  <a:pt x="71326" y="169664"/>
                  <a:pt x="126299" y="169664"/>
                </a:cubicBezTo>
                <a:lnTo>
                  <a:pt x="159451" y="169664"/>
                </a:lnTo>
                <a:cubicBezTo>
                  <a:pt x="214424" y="169664"/>
                  <a:pt x="258961" y="214201"/>
                  <a:pt x="258961" y="269174"/>
                </a:cubicBezTo>
                <a:cubicBezTo>
                  <a:pt x="258961" y="278327"/>
                  <a:pt x="251538" y="285750"/>
                  <a:pt x="242385" y="285750"/>
                </a:cubicBezTo>
                <a:lnTo>
                  <a:pt x="43365" y="285750"/>
                </a:lnTo>
                <a:cubicBezTo>
                  <a:pt x="34212" y="285750"/>
                  <a:pt x="26789" y="278327"/>
                  <a:pt x="26789" y="269174"/>
                </a:cubicBezTo>
                <a:close/>
                <a:moveTo>
                  <a:pt x="341784" y="74061"/>
                </a:moveTo>
                <a:lnTo>
                  <a:pt x="297135" y="145498"/>
                </a:lnTo>
                <a:cubicBezTo>
                  <a:pt x="294791" y="149237"/>
                  <a:pt x="290773" y="151581"/>
                  <a:pt x="286364" y="151805"/>
                </a:cubicBezTo>
                <a:cubicBezTo>
                  <a:pt x="281955" y="152028"/>
                  <a:pt x="277713" y="150019"/>
                  <a:pt x="275090" y="146447"/>
                </a:cubicBezTo>
                <a:lnTo>
                  <a:pt x="248301" y="110728"/>
                </a:lnTo>
                <a:cubicBezTo>
                  <a:pt x="243836" y="104812"/>
                  <a:pt x="245064" y="96441"/>
                  <a:pt x="250980" y="91976"/>
                </a:cubicBezTo>
                <a:cubicBezTo>
                  <a:pt x="256896" y="87511"/>
                  <a:pt x="265268" y="88739"/>
                  <a:pt x="269732" y="94655"/>
                </a:cubicBezTo>
                <a:lnTo>
                  <a:pt x="284801" y="114746"/>
                </a:lnTo>
                <a:lnTo>
                  <a:pt x="319069" y="59885"/>
                </a:lnTo>
                <a:cubicBezTo>
                  <a:pt x="322976" y="53634"/>
                  <a:pt x="331236" y="51681"/>
                  <a:pt x="337542" y="55643"/>
                </a:cubicBezTo>
                <a:cubicBezTo>
                  <a:pt x="343849" y="59606"/>
                  <a:pt x="345746" y="67810"/>
                  <a:pt x="341784" y="74116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10" name="Text 8"/>
          <p:cNvSpPr/>
          <p:nvPr/>
        </p:nvSpPr>
        <p:spPr>
          <a:xfrm>
            <a:off x="4409361" y="2200277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Employees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61736" y="2466977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~7,950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10181" y="1640204"/>
            <a:ext cx="3691890" cy="1405890"/>
          </a:xfrm>
          <a:custGeom>
            <a:avLst/>
            <a:gdLst/>
            <a:ahLst/>
            <a:cxnLst/>
            <a:rect l="l" t="t" r="r" b="b"/>
            <a:pathLst>
              <a:path w="3691890" h="1405890">
                <a:moveTo>
                  <a:pt x="76199" y="0"/>
                </a:moveTo>
                <a:lnTo>
                  <a:pt x="3615691" y="0"/>
                </a:lnTo>
                <a:cubicBezTo>
                  <a:pt x="3657774" y="0"/>
                  <a:pt x="3691890" y="34116"/>
                  <a:pt x="3691890" y="76199"/>
                </a:cubicBezTo>
                <a:lnTo>
                  <a:pt x="3691890" y="1329691"/>
                </a:lnTo>
                <a:cubicBezTo>
                  <a:pt x="3691890" y="1371774"/>
                  <a:pt x="3657774" y="1405890"/>
                  <a:pt x="3615691" y="1405890"/>
                </a:cubicBezTo>
                <a:lnTo>
                  <a:pt x="76199" y="1405890"/>
                </a:lnTo>
                <a:cubicBezTo>
                  <a:pt x="34116" y="1405890"/>
                  <a:pt x="0" y="1371774"/>
                  <a:pt x="0" y="132969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D9770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80509" y="18383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6126" y="71438"/>
                </a:moveTo>
                <a:cubicBezTo>
                  <a:pt x="76126" y="47510"/>
                  <a:pt x="88891" y="25401"/>
                  <a:pt x="109612" y="13437"/>
                </a:cubicBezTo>
                <a:cubicBezTo>
                  <a:pt x="130333" y="1474"/>
                  <a:pt x="155863" y="1474"/>
                  <a:pt x="176585" y="13437"/>
                </a:cubicBezTo>
                <a:cubicBezTo>
                  <a:pt x="197306" y="25401"/>
                  <a:pt x="210071" y="47510"/>
                  <a:pt x="210071" y="71438"/>
                </a:cubicBezTo>
                <a:cubicBezTo>
                  <a:pt x="210071" y="108401"/>
                  <a:pt x="180061" y="138410"/>
                  <a:pt x="143098" y="138410"/>
                </a:cubicBezTo>
                <a:cubicBezTo>
                  <a:pt x="106135" y="138410"/>
                  <a:pt x="76126" y="108401"/>
                  <a:pt x="76126" y="71438"/>
                </a:cubicBezTo>
                <a:close/>
                <a:moveTo>
                  <a:pt x="27012" y="269174"/>
                </a:moveTo>
                <a:cubicBezTo>
                  <a:pt x="27012" y="214201"/>
                  <a:pt x="71549" y="169664"/>
                  <a:pt x="126523" y="169664"/>
                </a:cubicBezTo>
                <a:lnTo>
                  <a:pt x="159674" y="169664"/>
                </a:lnTo>
                <a:cubicBezTo>
                  <a:pt x="214647" y="169664"/>
                  <a:pt x="259184" y="214201"/>
                  <a:pt x="259184" y="269174"/>
                </a:cubicBezTo>
                <a:cubicBezTo>
                  <a:pt x="259184" y="278327"/>
                  <a:pt x="251761" y="285750"/>
                  <a:pt x="242608" y="285750"/>
                </a:cubicBezTo>
                <a:lnTo>
                  <a:pt x="43588" y="285750"/>
                </a:lnTo>
                <a:cubicBezTo>
                  <a:pt x="34435" y="285750"/>
                  <a:pt x="27012" y="278327"/>
                  <a:pt x="27012" y="269174"/>
                </a:cubicBezTo>
                <a:close/>
                <a:moveTo>
                  <a:pt x="341728" y="69261"/>
                </a:moveTo>
                <a:cubicBezTo>
                  <a:pt x="346974" y="74507"/>
                  <a:pt x="346974" y="82990"/>
                  <a:pt x="341728" y="88181"/>
                </a:cubicBezTo>
                <a:lnTo>
                  <a:pt x="322808" y="107100"/>
                </a:lnTo>
                <a:lnTo>
                  <a:pt x="341728" y="126020"/>
                </a:lnTo>
                <a:cubicBezTo>
                  <a:pt x="346974" y="131266"/>
                  <a:pt x="346974" y="139750"/>
                  <a:pt x="341728" y="144940"/>
                </a:cubicBezTo>
                <a:cubicBezTo>
                  <a:pt x="336482" y="150130"/>
                  <a:pt x="327999" y="150186"/>
                  <a:pt x="322808" y="144940"/>
                </a:cubicBezTo>
                <a:lnTo>
                  <a:pt x="303888" y="126020"/>
                </a:lnTo>
                <a:lnTo>
                  <a:pt x="284969" y="144940"/>
                </a:lnTo>
                <a:cubicBezTo>
                  <a:pt x="279722" y="150186"/>
                  <a:pt x="271239" y="150186"/>
                  <a:pt x="266049" y="144940"/>
                </a:cubicBezTo>
                <a:cubicBezTo>
                  <a:pt x="260858" y="139694"/>
                  <a:pt x="260803" y="131211"/>
                  <a:pt x="266049" y="126020"/>
                </a:cubicBezTo>
                <a:lnTo>
                  <a:pt x="284969" y="107100"/>
                </a:lnTo>
                <a:lnTo>
                  <a:pt x="266049" y="88181"/>
                </a:lnTo>
                <a:cubicBezTo>
                  <a:pt x="260803" y="82934"/>
                  <a:pt x="260803" y="74451"/>
                  <a:pt x="266049" y="69261"/>
                </a:cubicBezTo>
                <a:cubicBezTo>
                  <a:pt x="271295" y="64071"/>
                  <a:pt x="279778" y="64015"/>
                  <a:pt x="284969" y="69261"/>
                </a:cubicBezTo>
                <a:lnTo>
                  <a:pt x="303888" y="88181"/>
                </a:lnTo>
                <a:lnTo>
                  <a:pt x="322808" y="69261"/>
                </a:lnTo>
                <a:cubicBezTo>
                  <a:pt x="328054" y="64015"/>
                  <a:pt x="336538" y="64015"/>
                  <a:pt x="341728" y="6926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0200" y="2200277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2575" y="2466977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~1,000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206114"/>
            <a:ext cx="5638800" cy="1600200"/>
          </a:xfrm>
          <a:custGeom>
            <a:avLst/>
            <a:gdLst/>
            <a:ahLst/>
            <a:cxnLst/>
            <a:rect l="l" t="t" r="r" b="b"/>
            <a:pathLst>
              <a:path w="5638800" h="1600200">
                <a:moveTo>
                  <a:pt x="76202" y="0"/>
                </a:moveTo>
                <a:lnTo>
                  <a:pt x="5562598" y="0"/>
                </a:lnTo>
                <a:cubicBezTo>
                  <a:pt x="5604683" y="0"/>
                  <a:pt x="5638800" y="34117"/>
                  <a:pt x="5638800" y="76202"/>
                </a:cubicBezTo>
                <a:lnTo>
                  <a:pt x="5638800" y="1523998"/>
                </a:lnTo>
                <a:cubicBezTo>
                  <a:pt x="5638800" y="1566083"/>
                  <a:pt x="5604683" y="1600200"/>
                  <a:pt x="55625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406" y="343471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3396614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7776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731" y="3777614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Balanced male–female workforce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0824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731" y="4082414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Majority in mid-career age groups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3872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731" y="4387214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Bachelor's and Master's dominate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3206114"/>
            <a:ext cx="5638800" cy="1600200"/>
          </a:xfrm>
          <a:custGeom>
            <a:avLst/>
            <a:gdLst/>
            <a:ahLst/>
            <a:cxnLst/>
            <a:rect l="l" t="t" r="r" b="b"/>
            <a:pathLst>
              <a:path w="5638800" h="1600200">
                <a:moveTo>
                  <a:pt x="76202" y="0"/>
                </a:moveTo>
                <a:lnTo>
                  <a:pt x="5562598" y="0"/>
                </a:lnTo>
                <a:cubicBezTo>
                  <a:pt x="5604683" y="0"/>
                  <a:pt x="5638800" y="34117"/>
                  <a:pt x="5638800" y="76202"/>
                </a:cubicBezTo>
                <a:lnTo>
                  <a:pt x="5638800" y="1523998"/>
                </a:lnTo>
                <a:cubicBezTo>
                  <a:pt x="5638800" y="1566083"/>
                  <a:pt x="5604683" y="1600200"/>
                  <a:pt x="55625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86513" y="34347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600825" y="3396614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&amp; Attrition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37776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5931" y="3777614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Trend: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Steady workforce growth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2700" y="40824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5931" y="4082414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Terminations: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Stable with slight variation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62700" y="4387214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5931" y="4387214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Attrition Rate: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~11% (industry typical)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4958714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5" name="Shape 33"/>
          <p:cNvSpPr/>
          <p:nvPr/>
        </p:nvSpPr>
        <p:spPr>
          <a:xfrm>
            <a:off x="631031" y="5187314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809625" y="5149214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 Patterns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" y="5530214"/>
            <a:ext cx="5448300" cy="457200"/>
          </a:xfrm>
          <a:custGeom>
            <a:avLst/>
            <a:gdLst/>
            <a:ahLst/>
            <a:cxnLst/>
            <a:rect l="l" t="t" r="r" b="b"/>
            <a:pathLst>
              <a:path w="5448300" h="457200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80998"/>
                </a:lnTo>
                <a:cubicBezTo>
                  <a:pt x="5448300" y="423083"/>
                  <a:pt x="5414183" y="457200"/>
                  <a:pt x="5372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95325" y="568261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990600" y="5644514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increases with age and job seniority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2200" y="5530214"/>
            <a:ext cx="5448300" cy="457200"/>
          </a:xfrm>
          <a:custGeom>
            <a:avLst/>
            <a:gdLst/>
            <a:ahLst/>
            <a:cxnLst/>
            <a:rect l="l" t="t" r="r" b="b"/>
            <a:pathLst>
              <a:path w="5448300" h="457200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380998"/>
                </a:lnTo>
                <a:cubicBezTo>
                  <a:pt x="5448300" y="423083"/>
                  <a:pt x="5414183" y="457200"/>
                  <a:pt x="5372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96025" y="568261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591300" y="5644514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education correlates with higher salary bands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DIVERSITY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Demographics &amp; Diversity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54944"/>
            <a:ext cx="5619750" cy="2057400"/>
          </a:xfrm>
          <a:custGeom>
            <a:avLst/>
            <a:gdLst/>
            <a:ahLst/>
            <a:cxnLst/>
            <a:rect l="l" t="t" r="r" b="b"/>
            <a:pathLst>
              <a:path w="5619750" h="2057400">
                <a:moveTo>
                  <a:pt x="76206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981194"/>
                </a:lnTo>
                <a:cubicBezTo>
                  <a:pt x="5619750" y="2023281"/>
                  <a:pt x="5585631" y="2057400"/>
                  <a:pt x="554354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74057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78594" y="-23812"/>
                </a:moveTo>
                <a:cubicBezTo>
                  <a:pt x="172008" y="-23812"/>
                  <a:pt x="166688" y="-18492"/>
                  <a:pt x="166688" y="-11906"/>
                </a:cubicBezTo>
                <a:cubicBezTo>
                  <a:pt x="166688" y="-5321"/>
                  <a:pt x="172008" y="0"/>
                  <a:pt x="178594" y="0"/>
                </a:cubicBezTo>
                <a:lnTo>
                  <a:pt x="197458" y="0"/>
                </a:lnTo>
                <a:lnTo>
                  <a:pt x="176361" y="21096"/>
                </a:lnTo>
                <a:cubicBezTo>
                  <a:pt x="166576" y="15255"/>
                  <a:pt x="155116" y="11906"/>
                  <a:pt x="142875" y="11906"/>
                </a:cubicBezTo>
                <a:cubicBezTo>
                  <a:pt x="129704" y="11906"/>
                  <a:pt x="117425" y="15813"/>
                  <a:pt x="107156" y="22510"/>
                </a:cubicBezTo>
                <a:cubicBezTo>
                  <a:pt x="96887" y="15813"/>
                  <a:pt x="84609" y="11906"/>
                  <a:pt x="71438" y="11906"/>
                </a:cubicBezTo>
                <a:cubicBezTo>
                  <a:pt x="35272" y="11906"/>
                  <a:pt x="5953" y="41225"/>
                  <a:pt x="5953" y="77391"/>
                </a:cubicBezTo>
                <a:cubicBezTo>
                  <a:pt x="5953" y="109500"/>
                  <a:pt x="29059" y="136215"/>
                  <a:pt x="59531" y="141796"/>
                </a:cubicBezTo>
                <a:lnTo>
                  <a:pt x="59531" y="154781"/>
                </a:lnTo>
                <a:lnTo>
                  <a:pt x="47625" y="154781"/>
                </a:lnTo>
                <a:cubicBezTo>
                  <a:pt x="41039" y="154781"/>
                  <a:pt x="35719" y="160102"/>
                  <a:pt x="35719" y="166688"/>
                </a:cubicBezTo>
                <a:cubicBezTo>
                  <a:pt x="35719" y="173273"/>
                  <a:pt x="41039" y="178594"/>
                  <a:pt x="47625" y="178594"/>
                </a:cubicBezTo>
                <a:lnTo>
                  <a:pt x="59531" y="178594"/>
                </a:lnTo>
                <a:lnTo>
                  <a:pt x="59531" y="190500"/>
                </a:lnTo>
                <a:cubicBezTo>
                  <a:pt x="59531" y="197086"/>
                  <a:pt x="64852" y="202406"/>
                  <a:pt x="71438" y="202406"/>
                </a:cubicBezTo>
                <a:cubicBezTo>
                  <a:pt x="78023" y="202406"/>
                  <a:pt x="83344" y="197086"/>
                  <a:pt x="83344" y="190500"/>
                </a:cubicBezTo>
                <a:lnTo>
                  <a:pt x="83344" y="178594"/>
                </a:lnTo>
                <a:lnTo>
                  <a:pt x="95250" y="178594"/>
                </a:lnTo>
                <a:cubicBezTo>
                  <a:pt x="101836" y="178594"/>
                  <a:pt x="107156" y="173273"/>
                  <a:pt x="107156" y="166688"/>
                </a:cubicBezTo>
                <a:cubicBezTo>
                  <a:pt x="107156" y="160102"/>
                  <a:pt x="101836" y="154781"/>
                  <a:pt x="95250" y="154781"/>
                </a:cubicBezTo>
                <a:lnTo>
                  <a:pt x="83344" y="154781"/>
                </a:lnTo>
                <a:lnTo>
                  <a:pt x="83344" y="141796"/>
                </a:lnTo>
                <a:cubicBezTo>
                  <a:pt x="92013" y="140196"/>
                  <a:pt x="100050" y="136922"/>
                  <a:pt x="107156" y="132271"/>
                </a:cubicBezTo>
                <a:cubicBezTo>
                  <a:pt x="117425" y="138968"/>
                  <a:pt x="129704" y="142875"/>
                  <a:pt x="142875" y="142875"/>
                </a:cubicBezTo>
                <a:cubicBezTo>
                  <a:pt x="179040" y="142875"/>
                  <a:pt x="208359" y="113556"/>
                  <a:pt x="208359" y="77391"/>
                </a:cubicBezTo>
                <a:cubicBezTo>
                  <a:pt x="208359" y="62099"/>
                  <a:pt x="203113" y="47997"/>
                  <a:pt x="194295" y="36835"/>
                </a:cubicBezTo>
                <a:lnTo>
                  <a:pt x="214313" y="16855"/>
                </a:lnTo>
                <a:lnTo>
                  <a:pt x="214313" y="35719"/>
                </a:lnTo>
                <a:cubicBezTo>
                  <a:pt x="214313" y="42304"/>
                  <a:pt x="219633" y="47625"/>
                  <a:pt x="226219" y="47625"/>
                </a:cubicBezTo>
                <a:cubicBezTo>
                  <a:pt x="232804" y="47625"/>
                  <a:pt x="238125" y="42304"/>
                  <a:pt x="238125" y="35719"/>
                </a:cubicBezTo>
                <a:lnTo>
                  <a:pt x="238125" y="-11906"/>
                </a:lnTo>
                <a:cubicBezTo>
                  <a:pt x="238125" y="-18492"/>
                  <a:pt x="232804" y="-23812"/>
                  <a:pt x="226219" y="-23812"/>
                </a:cubicBezTo>
                <a:lnTo>
                  <a:pt x="178594" y="-23812"/>
                </a:lnTo>
                <a:close/>
                <a:moveTo>
                  <a:pt x="125016" y="115044"/>
                </a:moveTo>
                <a:cubicBezTo>
                  <a:pt x="132531" y="104403"/>
                  <a:pt x="136922" y="91418"/>
                  <a:pt x="136922" y="77391"/>
                </a:cubicBezTo>
                <a:cubicBezTo>
                  <a:pt x="136922" y="63364"/>
                  <a:pt x="132531" y="50378"/>
                  <a:pt x="125016" y="39737"/>
                </a:cubicBezTo>
                <a:cubicBezTo>
                  <a:pt x="130448" y="37170"/>
                  <a:pt x="136475" y="35719"/>
                  <a:pt x="142875" y="35719"/>
                </a:cubicBezTo>
                <a:cubicBezTo>
                  <a:pt x="165906" y="35719"/>
                  <a:pt x="184547" y="54359"/>
                  <a:pt x="184547" y="77391"/>
                </a:cubicBezTo>
                <a:cubicBezTo>
                  <a:pt x="184547" y="100422"/>
                  <a:pt x="165906" y="119063"/>
                  <a:pt x="142875" y="119063"/>
                </a:cubicBezTo>
                <a:cubicBezTo>
                  <a:pt x="136475" y="119063"/>
                  <a:pt x="130411" y="117611"/>
                  <a:pt x="125016" y="115044"/>
                </a:cubicBezTo>
                <a:close/>
                <a:moveTo>
                  <a:pt x="107156" y="55922"/>
                </a:moveTo>
                <a:cubicBezTo>
                  <a:pt x="110951" y="62210"/>
                  <a:pt x="113109" y="69540"/>
                  <a:pt x="113109" y="77391"/>
                </a:cubicBezTo>
                <a:cubicBezTo>
                  <a:pt x="113109" y="85241"/>
                  <a:pt x="110951" y="92608"/>
                  <a:pt x="107156" y="98859"/>
                </a:cubicBezTo>
                <a:cubicBezTo>
                  <a:pt x="103361" y="92571"/>
                  <a:pt x="101203" y="85241"/>
                  <a:pt x="101203" y="77391"/>
                </a:cubicBezTo>
                <a:cubicBezTo>
                  <a:pt x="101203" y="69540"/>
                  <a:pt x="103361" y="62173"/>
                  <a:pt x="107156" y="55922"/>
                </a:cubicBezTo>
                <a:close/>
                <a:moveTo>
                  <a:pt x="89297" y="39737"/>
                </a:moveTo>
                <a:cubicBezTo>
                  <a:pt x="81781" y="50378"/>
                  <a:pt x="77391" y="63364"/>
                  <a:pt x="77391" y="77391"/>
                </a:cubicBezTo>
                <a:cubicBezTo>
                  <a:pt x="77391" y="91418"/>
                  <a:pt x="81781" y="104403"/>
                  <a:pt x="89297" y="115044"/>
                </a:cubicBezTo>
                <a:cubicBezTo>
                  <a:pt x="83902" y="117611"/>
                  <a:pt x="77837" y="119063"/>
                  <a:pt x="71438" y="119063"/>
                </a:cubicBezTo>
                <a:cubicBezTo>
                  <a:pt x="48406" y="119063"/>
                  <a:pt x="29766" y="100422"/>
                  <a:pt x="29766" y="77391"/>
                </a:cubicBezTo>
                <a:cubicBezTo>
                  <a:pt x="29766" y="54359"/>
                  <a:pt x="48406" y="35719"/>
                  <a:pt x="71438" y="35719"/>
                </a:cubicBezTo>
                <a:cubicBezTo>
                  <a:pt x="77837" y="35719"/>
                  <a:pt x="83902" y="37170"/>
                  <a:pt x="89297" y="39737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47725" y="1683544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&amp; Education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140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22549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140623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Distribution: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Gender distribution is relatively balanced across all education levels, indicating inclusive hiring practices.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788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3900" y="2902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2788323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Representation: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Higher education levels are more prevalent in technical and managerial roles.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0" y="1454944"/>
            <a:ext cx="5619750" cy="2057400"/>
          </a:xfrm>
          <a:custGeom>
            <a:avLst/>
            <a:gdLst/>
            <a:ahLst/>
            <a:cxnLst/>
            <a:rect l="l" t="t" r="r" b="b"/>
            <a:pathLst>
              <a:path w="5619750" h="2057400">
                <a:moveTo>
                  <a:pt x="76206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981194"/>
                </a:lnTo>
                <a:cubicBezTo>
                  <a:pt x="5619750" y="2023281"/>
                  <a:pt x="5585631" y="2057400"/>
                  <a:pt x="554354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31756" y="17405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95845" y="113109"/>
                  <a:pt x="97334" y="113147"/>
                  <a:pt x="98785" y="113258"/>
                </a:cubicBezTo>
                <a:cubicBezTo>
                  <a:pt x="92757" y="123751"/>
                  <a:pt x="89297" y="135880"/>
                  <a:pt x="89297" y="148828"/>
                </a:cubicBezTo>
                <a:cubicBezTo>
                  <a:pt x="89297" y="164381"/>
                  <a:pt x="94283" y="178780"/>
                  <a:pt x="102691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07156" y="148828"/>
                </a:moveTo>
                <a:cubicBezTo>
                  <a:pt x="107156" y="119258"/>
                  <a:pt x="131164" y="95250"/>
                  <a:pt x="160734" y="95250"/>
                </a:cubicBezTo>
                <a:cubicBezTo>
                  <a:pt x="190305" y="95250"/>
                  <a:pt x="214313" y="119258"/>
                  <a:pt x="214313" y="148828"/>
                </a:cubicBezTo>
                <a:cubicBezTo>
                  <a:pt x="214313" y="178399"/>
                  <a:pt x="190305" y="202406"/>
                  <a:pt x="160734" y="202406"/>
                </a:cubicBezTo>
                <a:cubicBezTo>
                  <a:pt x="131164" y="202406"/>
                  <a:pt x="107156" y="178399"/>
                  <a:pt x="107156" y="148828"/>
                </a:cubicBezTo>
                <a:close/>
                <a:moveTo>
                  <a:pt x="160734" y="119063"/>
                </a:moveTo>
                <a:cubicBezTo>
                  <a:pt x="157460" y="119063"/>
                  <a:pt x="154781" y="121741"/>
                  <a:pt x="154781" y="125016"/>
                </a:cubicBezTo>
                <a:lnTo>
                  <a:pt x="154781" y="148828"/>
                </a:lnTo>
                <a:cubicBezTo>
                  <a:pt x="154781" y="152102"/>
                  <a:pt x="157460" y="154781"/>
                  <a:pt x="160734" y="154781"/>
                </a:cubicBezTo>
                <a:lnTo>
                  <a:pt x="178594" y="154781"/>
                </a:lnTo>
                <a:cubicBezTo>
                  <a:pt x="181868" y="154781"/>
                  <a:pt x="184547" y="152102"/>
                  <a:pt x="184547" y="148828"/>
                </a:cubicBezTo>
                <a:cubicBezTo>
                  <a:pt x="184547" y="145554"/>
                  <a:pt x="181868" y="142875"/>
                  <a:pt x="178594" y="142875"/>
                </a:cubicBezTo>
                <a:lnTo>
                  <a:pt x="166688" y="142875"/>
                </a:lnTo>
                <a:lnTo>
                  <a:pt x="166688" y="125016"/>
                </a:lnTo>
                <a:cubicBezTo>
                  <a:pt x="166688" y="121741"/>
                  <a:pt x="164009" y="119063"/>
                  <a:pt x="160734" y="11906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7975" y="1683544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&amp; Education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19850" y="2140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43675" y="22549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18" name="Text 16"/>
          <p:cNvSpPr/>
          <p:nvPr/>
        </p:nvSpPr>
        <p:spPr>
          <a:xfrm>
            <a:off x="6915150" y="2140623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Younger Workforce: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Younger employees primarily hold Bachelor's degrees, representing entry-level talent.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19850" y="2788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43675" y="29026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915150" y="2788323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Workforce: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Senior employees show higher Master's and Doctorate representation.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702723"/>
            <a:ext cx="11410950" cy="1362075"/>
          </a:xfrm>
          <a:custGeom>
            <a:avLst/>
            <a:gdLst/>
            <a:ahLst/>
            <a:cxnLst/>
            <a:rect l="l" t="t" r="r" b="b"/>
            <a:pathLst>
              <a:path w="11410950" h="1362075">
                <a:moveTo>
                  <a:pt x="38100" y="0"/>
                </a:moveTo>
                <a:lnTo>
                  <a:pt x="11334756" y="0"/>
                </a:lnTo>
                <a:cubicBezTo>
                  <a:pt x="11376837" y="0"/>
                  <a:pt x="11410950" y="34113"/>
                  <a:pt x="11410950" y="76194"/>
                </a:cubicBezTo>
                <a:lnTo>
                  <a:pt x="11410950" y="1285881"/>
                </a:lnTo>
                <a:cubicBezTo>
                  <a:pt x="11410950" y="1327962"/>
                  <a:pt x="11376837" y="1362075"/>
                  <a:pt x="11334756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702723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" y="3931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8675" y="40837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3931323"/>
            <a:ext cx="1034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33500" y="4274223"/>
            <a:ext cx="10334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education level increases with tenure and experience,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indicating successful internal development programs and career progression pathways.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269585"/>
            <a:ext cx="3705225" cy="1162050"/>
          </a:xfrm>
          <a:custGeom>
            <a:avLst/>
            <a:gdLst/>
            <a:ahLst/>
            <a:cxnLst/>
            <a:rect l="l" t="t" r="r" b="b"/>
            <a:pathLst>
              <a:path w="3705225" h="1162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085854"/>
                </a:lnTo>
                <a:cubicBezTo>
                  <a:pt x="3705225" y="1127936"/>
                  <a:pt x="3671111" y="1162050"/>
                  <a:pt x="362902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000" y="526958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0" name="Shape 28"/>
          <p:cNvSpPr/>
          <p:nvPr/>
        </p:nvSpPr>
        <p:spPr>
          <a:xfrm>
            <a:off x="2092285" y="544103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1" name="Text 29"/>
          <p:cNvSpPr/>
          <p:nvPr/>
        </p:nvSpPr>
        <p:spPr>
          <a:xfrm>
            <a:off x="495300" y="57458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Balance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5775" y="60125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1721" y="5269585"/>
            <a:ext cx="3705225" cy="1162050"/>
          </a:xfrm>
          <a:custGeom>
            <a:avLst/>
            <a:gdLst/>
            <a:ahLst/>
            <a:cxnLst/>
            <a:rect l="l" t="t" r="r" b="b"/>
            <a:pathLst>
              <a:path w="3705225" h="1162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085854"/>
                </a:lnTo>
                <a:cubicBezTo>
                  <a:pt x="3705225" y="1127936"/>
                  <a:pt x="3671111" y="1162050"/>
                  <a:pt x="362902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41721" y="526958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5981581" y="54410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356021" y="57458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Growth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46496" y="60125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Tenure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2561" y="5269585"/>
            <a:ext cx="3705225" cy="1162050"/>
          </a:xfrm>
          <a:custGeom>
            <a:avLst/>
            <a:gdLst/>
            <a:ahLst/>
            <a:cxnLst/>
            <a:rect l="l" t="t" r="r" b="b"/>
            <a:pathLst>
              <a:path w="3705225" h="1162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085854"/>
                </a:lnTo>
                <a:cubicBezTo>
                  <a:pt x="3705225" y="1127936"/>
                  <a:pt x="3671111" y="1162050"/>
                  <a:pt x="3629029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02561" y="526958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0" name="Shape 38"/>
          <p:cNvSpPr/>
          <p:nvPr/>
        </p:nvSpPr>
        <p:spPr>
          <a:xfrm>
            <a:off x="9828134" y="544103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1" name="Text 39"/>
          <p:cNvSpPr/>
          <p:nvPr/>
        </p:nvSpPr>
        <p:spPr>
          <a:xfrm>
            <a:off x="8216861" y="574583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Diversity Status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07336" y="601253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DYNAMICS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and Attrition Trends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38800" cy="2324100"/>
          </a:xfrm>
          <a:custGeom>
            <a:avLst/>
            <a:gdLst/>
            <a:ahLst/>
            <a:cxnLst/>
            <a:rect l="l" t="t" r="r" b="b"/>
            <a:pathLst>
              <a:path w="5638800" h="2324100">
                <a:moveTo>
                  <a:pt x="76207" y="0"/>
                </a:moveTo>
                <a:lnTo>
                  <a:pt x="5562593" y="0"/>
                </a:lnTo>
                <a:cubicBezTo>
                  <a:pt x="5604681" y="0"/>
                  <a:pt x="5638800" y="34119"/>
                  <a:pt x="5638800" y="76207"/>
                </a:cubicBezTo>
                <a:lnTo>
                  <a:pt x="5638800" y="2247893"/>
                </a:lnTo>
                <a:cubicBezTo>
                  <a:pt x="5638800" y="2289981"/>
                  <a:pt x="5604681" y="2324100"/>
                  <a:pt x="556259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5" name="Shape 3"/>
          <p:cNvSpPr/>
          <p:nvPr/>
        </p:nvSpPr>
        <p:spPr>
          <a:xfrm>
            <a:off x="619125" y="158102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09625" y="1524000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 Distribution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981079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departments include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IT, HR, Finance, Sales, and Operations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forming the organizational backbone.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2628779"/>
            <a:ext cx="5257800" cy="838200"/>
          </a:xfrm>
          <a:custGeom>
            <a:avLst/>
            <a:gdLst/>
            <a:ahLst/>
            <a:cxnLst/>
            <a:rect l="l" t="t" r="r" b="b"/>
            <a:pathLst>
              <a:path w="5257800" h="838200">
                <a:moveTo>
                  <a:pt x="76201" y="0"/>
                </a:moveTo>
                <a:lnTo>
                  <a:pt x="5181599" y="0"/>
                </a:lnTo>
                <a:cubicBezTo>
                  <a:pt x="5223684" y="0"/>
                  <a:pt x="5257800" y="34116"/>
                  <a:pt x="5257800" y="76201"/>
                </a:cubicBezTo>
                <a:lnTo>
                  <a:pt x="5257800" y="761999"/>
                </a:lnTo>
                <a:cubicBezTo>
                  <a:pt x="5257800" y="804084"/>
                  <a:pt x="5223684" y="838200"/>
                  <a:pt x="51815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6281" y="2809754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4097" y="69986"/>
                </a:moveTo>
                <a:lnTo>
                  <a:pt x="83716" y="80367"/>
                </a:lnTo>
                <a:lnTo>
                  <a:pt x="94097" y="90748"/>
                </a:lnTo>
                <a:cubicBezTo>
                  <a:pt x="97244" y="93896"/>
                  <a:pt x="97244" y="98986"/>
                  <a:pt x="94097" y="102100"/>
                </a:cubicBezTo>
                <a:cubicBezTo>
                  <a:pt x="90949" y="105214"/>
                  <a:pt x="85859" y="105248"/>
                  <a:pt x="82745" y="102100"/>
                </a:cubicBezTo>
                <a:lnTo>
                  <a:pt x="66671" y="86026"/>
                </a:lnTo>
                <a:cubicBezTo>
                  <a:pt x="63524" y="82879"/>
                  <a:pt x="63524" y="77789"/>
                  <a:pt x="66671" y="74675"/>
                </a:cubicBezTo>
                <a:lnTo>
                  <a:pt x="82745" y="58601"/>
                </a:lnTo>
                <a:cubicBezTo>
                  <a:pt x="85892" y="55453"/>
                  <a:pt x="90982" y="55453"/>
                  <a:pt x="94097" y="58601"/>
                </a:cubicBezTo>
                <a:cubicBezTo>
                  <a:pt x="97211" y="61749"/>
                  <a:pt x="97244" y="66839"/>
                  <a:pt x="94097" y="69953"/>
                </a:cubicBezTo>
                <a:close/>
                <a:moveTo>
                  <a:pt x="131601" y="58601"/>
                </a:moveTo>
                <a:lnTo>
                  <a:pt x="147675" y="74675"/>
                </a:lnTo>
                <a:cubicBezTo>
                  <a:pt x="150822" y="77822"/>
                  <a:pt x="150822" y="82912"/>
                  <a:pt x="147675" y="86026"/>
                </a:cubicBezTo>
                <a:lnTo>
                  <a:pt x="131601" y="102100"/>
                </a:lnTo>
                <a:cubicBezTo>
                  <a:pt x="128454" y="105248"/>
                  <a:pt x="123364" y="105248"/>
                  <a:pt x="120249" y="102100"/>
                </a:cubicBezTo>
                <a:cubicBezTo>
                  <a:pt x="117135" y="98952"/>
                  <a:pt x="117102" y="93862"/>
                  <a:pt x="120249" y="90748"/>
                </a:cubicBezTo>
                <a:lnTo>
                  <a:pt x="130630" y="80367"/>
                </a:lnTo>
                <a:lnTo>
                  <a:pt x="120249" y="69986"/>
                </a:lnTo>
                <a:cubicBezTo>
                  <a:pt x="117102" y="66839"/>
                  <a:pt x="117102" y="61749"/>
                  <a:pt x="120249" y="58635"/>
                </a:cubicBezTo>
                <a:cubicBezTo>
                  <a:pt x="123397" y="55520"/>
                  <a:pt x="128487" y="55487"/>
                  <a:pt x="131601" y="5863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52513" y="2781179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&amp; Sales: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Largest workforce share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3085979"/>
            <a:ext cx="5029200" cy="228600"/>
          </a:xfrm>
          <a:prstGeom prst="rect">
            <a:avLst/>
          </a:prstGeom>
          <a:noFill/>
          <a:ln/>
        </p:spPr>
        <p:txBody>
          <a:bodyPr wrap="square" lIns="3429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departments drive business growth and digital transformation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333500"/>
            <a:ext cx="5638800" cy="2324100"/>
          </a:xfrm>
          <a:custGeom>
            <a:avLst/>
            <a:gdLst/>
            <a:ahLst/>
            <a:cxnLst/>
            <a:rect l="l" t="t" r="r" b="b"/>
            <a:pathLst>
              <a:path w="5638800" h="2324100">
                <a:moveTo>
                  <a:pt x="76207" y="0"/>
                </a:moveTo>
                <a:lnTo>
                  <a:pt x="5562593" y="0"/>
                </a:lnTo>
                <a:cubicBezTo>
                  <a:pt x="5604681" y="0"/>
                  <a:pt x="5638800" y="34119"/>
                  <a:pt x="5638800" y="76207"/>
                </a:cubicBezTo>
                <a:lnTo>
                  <a:pt x="5638800" y="2247893"/>
                </a:lnTo>
                <a:cubicBezTo>
                  <a:pt x="5638800" y="2289981"/>
                  <a:pt x="5604681" y="2324100"/>
                  <a:pt x="556259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2700" y="158102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02406" y="35719"/>
                </a:moveTo>
                <a:cubicBezTo>
                  <a:pt x="207355" y="35719"/>
                  <a:pt x="211336" y="39700"/>
                  <a:pt x="211336" y="44648"/>
                </a:cubicBezTo>
                <a:lnTo>
                  <a:pt x="211336" y="62508"/>
                </a:lnTo>
                <a:lnTo>
                  <a:pt x="229195" y="62508"/>
                </a:lnTo>
                <a:cubicBezTo>
                  <a:pt x="234144" y="62508"/>
                  <a:pt x="238125" y="66489"/>
                  <a:pt x="238125" y="71438"/>
                </a:cubicBezTo>
                <a:cubicBezTo>
                  <a:pt x="238125" y="76386"/>
                  <a:pt x="234144" y="80367"/>
                  <a:pt x="229195" y="80367"/>
                </a:cubicBezTo>
                <a:lnTo>
                  <a:pt x="211336" y="80367"/>
                </a:lnTo>
                <a:lnTo>
                  <a:pt x="211336" y="98227"/>
                </a:lnTo>
                <a:cubicBezTo>
                  <a:pt x="211336" y="103175"/>
                  <a:pt x="207355" y="107156"/>
                  <a:pt x="202406" y="107156"/>
                </a:cubicBezTo>
                <a:cubicBezTo>
                  <a:pt x="197458" y="107156"/>
                  <a:pt x="193477" y="103175"/>
                  <a:pt x="193477" y="98227"/>
                </a:cubicBezTo>
                <a:lnTo>
                  <a:pt x="193477" y="80367"/>
                </a:lnTo>
                <a:lnTo>
                  <a:pt x="175617" y="80367"/>
                </a:lnTo>
                <a:cubicBezTo>
                  <a:pt x="170669" y="80367"/>
                  <a:pt x="166688" y="76386"/>
                  <a:pt x="166688" y="71438"/>
                </a:cubicBezTo>
                <a:cubicBezTo>
                  <a:pt x="166688" y="66489"/>
                  <a:pt x="170669" y="62508"/>
                  <a:pt x="175617" y="62508"/>
                </a:cubicBezTo>
                <a:lnTo>
                  <a:pt x="193477" y="62508"/>
                </a:lnTo>
                <a:lnTo>
                  <a:pt x="193477" y="44648"/>
                </a:lnTo>
                <a:cubicBezTo>
                  <a:pt x="193477" y="39700"/>
                  <a:pt x="197458" y="35719"/>
                  <a:pt x="202406" y="357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600825" y="1524000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Trends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5797" y="201917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53578"/>
                </a:moveTo>
                <a:cubicBezTo>
                  <a:pt x="122660" y="53578"/>
                  <a:pt x="117872" y="48790"/>
                  <a:pt x="117872" y="42863"/>
                </a:cubicBezTo>
                <a:cubicBezTo>
                  <a:pt x="117872" y="36935"/>
                  <a:pt x="122660" y="32147"/>
                  <a:pt x="128588" y="32147"/>
                </a:cubicBezTo>
                <a:lnTo>
                  <a:pt x="182166" y="32147"/>
                </a:lnTo>
                <a:cubicBezTo>
                  <a:pt x="188093" y="32147"/>
                  <a:pt x="192881" y="36935"/>
                  <a:pt x="192881" y="42863"/>
                </a:cubicBezTo>
                <a:lnTo>
                  <a:pt x="192881" y="96441"/>
                </a:lnTo>
                <a:cubicBezTo>
                  <a:pt x="192881" y="102368"/>
                  <a:pt x="188093" y="107156"/>
                  <a:pt x="182166" y="107156"/>
                </a:cubicBezTo>
                <a:cubicBezTo>
                  <a:pt x="176239" y="107156"/>
                  <a:pt x="171450" y="102368"/>
                  <a:pt x="171450" y="96441"/>
                </a:cubicBezTo>
                <a:lnTo>
                  <a:pt x="171450" y="68747"/>
                </a:lnTo>
                <a:lnTo>
                  <a:pt x="114724" y="125473"/>
                </a:lnTo>
                <a:cubicBezTo>
                  <a:pt x="110538" y="129659"/>
                  <a:pt x="103741" y="129659"/>
                  <a:pt x="99555" y="125473"/>
                </a:cubicBezTo>
                <a:lnTo>
                  <a:pt x="64294" y="90179"/>
                </a:lnTo>
                <a:lnTo>
                  <a:pt x="18284" y="136155"/>
                </a:lnTo>
                <a:cubicBezTo>
                  <a:pt x="14098" y="140341"/>
                  <a:pt x="7300" y="140341"/>
                  <a:pt x="3114" y="136155"/>
                </a:cubicBezTo>
                <a:cubicBezTo>
                  <a:pt x="-1072" y="131970"/>
                  <a:pt x="-1072" y="125172"/>
                  <a:pt x="3114" y="120986"/>
                </a:cubicBezTo>
                <a:lnTo>
                  <a:pt x="56692" y="67408"/>
                </a:lnTo>
                <a:cubicBezTo>
                  <a:pt x="60878" y="63222"/>
                  <a:pt x="67676" y="63222"/>
                  <a:pt x="71862" y="67408"/>
                </a:cubicBezTo>
                <a:lnTo>
                  <a:pt x="107156" y="102703"/>
                </a:lnTo>
                <a:lnTo>
                  <a:pt x="156281" y="53578"/>
                </a:lnTo>
                <a:lnTo>
                  <a:pt x="128588" y="5357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691313" y="1981079"/>
            <a:ext cx="4371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Growth: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Hiring increased substantially in recent years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6513" y="238112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691313" y="2343029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Expansion Indicator: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Signals organizational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75797" y="274307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42863"/>
                </a:moveTo>
                <a:cubicBezTo>
                  <a:pt x="0" y="31042"/>
                  <a:pt x="9611" y="21431"/>
                  <a:pt x="21431" y="21431"/>
                </a:cubicBezTo>
                <a:lnTo>
                  <a:pt x="171450" y="21431"/>
                </a:lnTo>
                <a:cubicBezTo>
                  <a:pt x="183271" y="21431"/>
                  <a:pt x="192881" y="31042"/>
                  <a:pt x="192881" y="42863"/>
                </a:cubicBezTo>
                <a:lnTo>
                  <a:pt x="192881" y="128588"/>
                </a:lnTo>
                <a:cubicBezTo>
                  <a:pt x="192881" y="140408"/>
                  <a:pt x="183271" y="150019"/>
                  <a:pt x="171450" y="150019"/>
                </a:cubicBezTo>
                <a:lnTo>
                  <a:pt x="21431" y="150019"/>
                </a:lnTo>
                <a:cubicBezTo>
                  <a:pt x="9611" y="150019"/>
                  <a:pt x="0" y="140408"/>
                  <a:pt x="0" y="128588"/>
                </a:cubicBezTo>
                <a:lnTo>
                  <a:pt x="0" y="42863"/>
                </a:lnTo>
                <a:close/>
                <a:moveTo>
                  <a:pt x="21431" y="53578"/>
                </a:moveTo>
                <a:lnTo>
                  <a:pt x="21431" y="64294"/>
                </a:lnTo>
                <a:cubicBezTo>
                  <a:pt x="21431" y="70221"/>
                  <a:pt x="26220" y="75009"/>
                  <a:pt x="32147" y="75009"/>
                </a:cubicBezTo>
                <a:lnTo>
                  <a:pt x="85725" y="75009"/>
                </a:lnTo>
                <a:cubicBezTo>
                  <a:pt x="91652" y="75009"/>
                  <a:pt x="96441" y="70221"/>
                  <a:pt x="96441" y="64294"/>
                </a:cubicBezTo>
                <a:lnTo>
                  <a:pt x="96441" y="53578"/>
                </a:lnTo>
                <a:cubicBezTo>
                  <a:pt x="96441" y="47651"/>
                  <a:pt x="91652" y="42863"/>
                  <a:pt x="85725" y="42863"/>
                </a:cubicBezTo>
                <a:lnTo>
                  <a:pt x="32147" y="42863"/>
                </a:lnTo>
                <a:cubicBezTo>
                  <a:pt x="26220" y="42863"/>
                  <a:pt x="21431" y="47651"/>
                  <a:pt x="21431" y="53578"/>
                </a:cubicBezTo>
                <a:close/>
                <a:moveTo>
                  <a:pt x="29468" y="117872"/>
                </a:moveTo>
                <a:cubicBezTo>
                  <a:pt x="25014" y="117872"/>
                  <a:pt x="21431" y="121455"/>
                  <a:pt x="21431" y="125909"/>
                </a:cubicBezTo>
                <a:cubicBezTo>
                  <a:pt x="21431" y="130362"/>
                  <a:pt x="25014" y="133945"/>
                  <a:pt x="29468" y="133945"/>
                </a:cubicBezTo>
                <a:lnTo>
                  <a:pt x="75009" y="133945"/>
                </a:lnTo>
                <a:cubicBezTo>
                  <a:pt x="79463" y="133945"/>
                  <a:pt x="83046" y="130362"/>
                  <a:pt x="83046" y="125909"/>
                </a:cubicBezTo>
                <a:cubicBezTo>
                  <a:pt x="83046" y="121455"/>
                  <a:pt x="79463" y="117872"/>
                  <a:pt x="75009" y="117872"/>
                </a:cubicBezTo>
                <a:lnTo>
                  <a:pt x="29468" y="117872"/>
                </a:lnTo>
                <a:close/>
                <a:moveTo>
                  <a:pt x="115193" y="117872"/>
                </a:moveTo>
                <a:cubicBezTo>
                  <a:pt x="110739" y="117872"/>
                  <a:pt x="107156" y="121455"/>
                  <a:pt x="107156" y="125909"/>
                </a:cubicBezTo>
                <a:cubicBezTo>
                  <a:pt x="107156" y="130362"/>
                  <a:pt x="110739" y="133945"/>
                  <a:pt x="115193" y="133945"/>
                </a:cubicBezTo>
                <a:lnTo>
                  <a:pt x="163413" y="133945"/>
                </a:lnTo>
                <a:cubicBezTo>
                  <a:pt x="167867" y="133945"/>
                  <a:pt x="171450" y="130362"/>
                  <a:pt x="171450" y="125909"/>
                </a:cubicBezTo>
                <a:cubicBezTo>
                  <a:pt x="171450" y="121455"/>
                  <a:pt x="167867" y="117872"/>
                  <a:pt x="163413" y="117872"/>
                </a:cubicBezTo>
                <a:lnTo>
                  <a:pt x="115193" y="117872"/>
                </a:lnTo>
                <a:close/>
                <a:moveTo>
                  <a:pt x="166092" y="64294"/>
                </a:moveTo>
                <a:cubicBezTo>
                  <a:pt x="166092" y="52466"/>
                  <a:pt x="156489" y="42863"/>
                  <a:pt x="144661" y="42863"/>
                </a:cubicBezTo>
                <a:cubicBezTo>
                  <a:pt x="132833" y="42863"/>
                  <a:pt x="123230" y="52466"/>
                  <a:pt x="123230" y="64294"/>
                </a:cubicBezTo>
                <a:cubicBezTo>
                  <a:pt x="123230" y="76122"/>
                  <a:pt x="132833" y="85725"/>
                  <a:pt x="144661" y="85725"/>
                </a:cubicBezTo>
                <a:cubicBezTo>
                  <a:pt x="156489" y="85725"/>
                  <a:pt x="166092" y="76122"/>
                  <a:pt x="166092" y="64294"/>
                </a:cubicBezTo>
                <a:close/>
                <a:moveTo>
                  <a:pt x="29468" y="104477"/>
                </a:moveTo>
                <a:cubicBezTo>
                  <a:pt x="33904" y="104477"/>
                  <a:pt x="37505" y="100876"/>
                  <a:pt x="37505" y="96441"/>
                </a:cubicBezTo>
                <a:cubicBezTo>
                  <a:pt x="37505" y="92005"/>
                  <a:pt x="33904" y="88404"/>
                  <a:pt x="29468" y="88404"/>
                </a:cubicBezTo>
                <a:cubicBezTo>
                  <a:pt x="25032" y="88404"/>
                  <a:pt x="21431" y="92005"/>
                  <a:pt x="21431" y="96441"/>
                </a:cubicBezTo>
                <a:cubicBezTo>
                  <a:pt x="21431" y="100876"/>
                  <a:pt x="25032" y="104477"/>
                  <a:pt x="29468" y="104477"/>
                </a:cubicBezTo>
                <a:close/>
                <a:moveTo>
                  <a:pt x="64294" y="96441"/>
                </a:moveTo>
                <a:cubicBezTo>
                  <a:pt x="64294" y="92005"/>
                  <a:pt x="60693" y="88404"/>
                  <a:pt x="56257" y="88404"/>
                </a:cubicBezTo>
                <a:cubicBezTo>
                  <a:pt x="51821" y="88404"/>
                  <a:pt x="48220" y="92005"/>
                  <a:pt x="48220" y="96441"/>
                </a:cubicBezTo>
                <a:cubicBezTo>
                  <a:pt x="48220" y="100876"/>
                  <a:pt x="51821" y="104477"/>
                  <a:pt x="56257" y="104477"/>
                </a:cubicBezTo>
                <a:cubicBezTo>
                  <a:pt x="60693" y="104477"/>
                  <a:pt x="64294" y="100876"/>
                  <a:pt x="64294" y="96441"/>
                </a:cubicBezTo>
                <a:close/>
                <a:moveTo>
                  <a:pt x="83046" y="104477"/>
                </a:moveTo>
                <a:cubicBezTo>
                  <a:pt x="87482" y="104477"/>
                  <a:pt x="91083" y="100876"/>
                  <a:pt x="91083" y="96441"/>
                </a:cubicBezTo>
                <a:cubicBezTo>
                  <a:pt x="91083" y="92005"/>
                  <a:pt x="87482" y="88404"/>
                  <a:pt x="83046" y="88404"/>
                </a:cubicBezTo>
                <a:cubicBezTo>
                  <a:pt x="78611" y="88404"/>
                  <a:pt x="75009" y="92005"/>
                  <a:pt x="75009" y="96441"/>
                </a:cubicBezTo>
                <a:cubicBezTo>
                  <a:pt x="75009" y="100876"/>
                  <a:pt x="78611" y="104477"/>
                  <a:pt x="83046" y="104477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691313" y="2704979"/>
            <a:ext cx="396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Focus: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Recent peaks suggest digital transformation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809879"/>
            <a:ext cx="11430000" cy="2305050"/>
          </a:xfrm>
          <a:custGeom>
            <a:avLst/>
            <a:gdLst/>
            <a:ahLst/>
            <a:cxnLst/>
            <a:rect l="l" t="t" r="r" b="b"/>
            <a:pathLst>
              <a:path w="11430000" h="2305050">
                <a:moveTo>
                  <a:pt x="76205" y="0"/>
                </a:moveTo>
                <a:lnTo>
                  <a:pt x="11353795" y="0"/>
                </a:lnTo>
                <a:cubicBezTo>
                  <a:pt x="11395882" y="0"/>
                  <a:pt x="11430000" y="34118"/>
                  <a:pt x="11430000" y="76205"/>
                </a:cubicBezTo>
                <a:lnTo>
                  <a:pt x="11430000" y="2228845"/>
                </a:lnTo>
                <a:cubicBezTo>
                  <a:pt x="11430000" y="2270932"/>
                  <a:pt x="11395882" y="2305050"/>
                  <a:pt x="11353795" y="2305050"/>
                </a:cubicBezTo>
                <a:lnTo>
                  <a:pt x="76205" y="2305050"/>
                </a:lnTo>
                <a:cubicBezTo>
                  <a:pt x="34118" y="2305050"/>
                  <a:pt x="0" y="2270932"/>
                  <a:pt x="0" y="22288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1500" y="405740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175617" y="62508"/>
                </a:moveTo>
                <a:lnTo>
                  <a:pt x="229195" y="62508"/>
                </a:lnTo>
                <a:cubicBezTo>
                  <a:pt x="234144" y="62508"/>
                  <a:pt x="238125" y="66489"/>
                  <a:pt x="238125" y="71438"/>
                </a:cubicBezTo>
                <a:cubicBezTo>
                  <a:pt x="238125" y="76386"/>
                  <a:pt x="234144" y="80367"/>
                  <a:pt x="229195" y="80367"/>
                </a:cubicBezTo>
                <a:lnTo>
                  <a:pt x="175617" y="80367"/>
                </a:lnTo>
                <a:cubicBezTo>
                  <a:pt x="170669" y="80367"/>
                  <a:pt x="166688" y="76386"/>
                  <a:pt x="166688" y="71438"/>
                </a:cubicBezTo>
                <a:cubicBezTo>
                  <a:pt x="166688" y="66489"/>
                  <a:pt x="170669" y="62508"/>
                  <a:pt x="175617" y="6250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09625" y="4000379"/>
            <a:ext cx="1092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Attrition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4457458"/>
            <a:ext cx="3581400" cy="1466850"/>
          </a:xfrm>
          <a:custGeom>
            <a:avLst/>
            <a:gdLst/>
            <a:ahLst/>
            <a:cxnLst/>
            <a:rect l="l" t="t" r="r" b="b"/>
            <a:pathLst>
              <a:path w="3581400" h="1466850">
                <a:moveTo>
                  <a:pt x="76203" y="0"/>
                </a:moveTo>
                <a:lnTo>
                  <a:pt x="3505197" y="0"/>
                </a:lnTo>
                <a:cubicBezTo>
                  <a:pt x="3547255" y="0"/>
                  <a:pt x="3581400" y="34145"/>
                  <a:pt x="3581400" y="76203"/>
                </a:cubicBezTo>
                <a:lnTo>
                  <a:pt x="3581400" y="1390647"/>
                </a:lnTo>
                <a:cubicBezTo>
                  <a:pt x="3581400" y="1432705"/>
                  <a:pt x="3547255" y="1466850"/>
                  <a:pt x="35051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1706" y="46098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133945" y="53578"/>
                </a:moveTo>
                <a:cubicBezTo>
                  <a:pt x="137685" y="53578"/>
                  <a:pt x="141256" y="55141"/>
                  <a:pt x="143824" y="57931"/>
                </a:cubicBezTo>
                <a:lnTo>
                  <a:pt x="183505" y="101185"/>
                </a:lnTo>
                <a:lnTo>
                  <a:pt x="209290" y="75344"/>
                </a:lnTo>
                <a:cubicBezTo>
                  <a:pt x="214536" y="70098"/>
                  <a:pt x="223019" y="70098"/>
                  <a:pt x="228209" y="75344"/>
                </a:cubicBezTo>
                <a:lnTo>
                  <a:pt x="263928" y="111063"/>
                </a:lnTo>
                <a:cubicBezTo>
                  <a:pt x="266440" y="113574"/>
                  <a:pt x="267835" y="116979"/>
                  <a:pt x="267835" y="120551"/>
                </a:cubicBezTo>
                <a:lnTo>
                  <a:pt x="267835" y="183059"/>
                </a:lnTo>
                <a:cubicBezTo>
                  <a:pt x="267835" y="190481"/>
                  <a:pt x="261863" y="196453"/>
                  <a:pt x="254440" y="196453"/>
                </a:cubicBezTo>
                <a:lnTo>
                  <a:pt x="84776" y="196453"/>
                </a:lnTo>
                <a:cubicBezTo>
                  <a:pt x="77353" y="196453"/>
                  <a:pt x="71382" y="190481"/>
                  <a:pt x="71382" y="183059"/>
                </a:cubicBezTo>
                <a:lnTo>
                  <a:pt x="71382" y="120551"/>
                </a:lnTo>
                <a:cubicBezTo>
                  <a:pt x="71382" y="117202"/>
                  <a:pt x="72665" y="113965"/>
                  <a:pt x="74898" y="111509"/>
                </a:cubicBezTo>
                <a:lnTo>
                  <a:pt x="124011" y="57931"/>
                </a:lnTo>
                <a:cubicBezTo>
                  <a:pt x="126523" y="55141"/>
                  <a:pt x="130150" y="53578"/>
                  <a:pt x="133890" y="53578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718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Termination Trend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275" y="5238508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5433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Across years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05300" y="4457458"/>
            <a:ext cx="3581400" cy="1466850"/>
          </a:xfrm>
          <a:custGeom>
            <a:avLst/>
            <a:gdLst/>
            <a:ahLst/>
            <a:cxnLst/>
            <a:rect l="l" t="t" r="r" b="b"/>
            <a:pathLst>
              <a:path w="3581400" h="1466850">
                <a:moveTo>
                  <a:pt x="76203" y="0"/>
                </a:moveTo>
                <a:lnTo>
                  <a:pt x="3505197" y="0"/>
                </a:lnTo>
                <a:cubicBezTo>
                  <a:pt x="3547255" y="0"/>
                  <a:pt x="3581400" y="34145"/>
                  <a:pt x="3581400" y="76203"/>
                </a:cubicBezTo>
                <a:lnTo>
                  <a:pt x="3581400" y="1390647"/>
                </a:lnTo>
                <a:cubicBezTo>
                  <a:pt x="3581400" y="1432705"/>
                  <a:pt x="3547255" y="1466850"/>
                  <a:pt x="35051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973366" y="460985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07156" y="71438"/>
                </a:moveTo>
                <a:cubicBezTo>
                  <a:pt x="107156" y="41867"/>
                  <a:pt x="83149" y="17859"/>
                  <a:pt x="53578" y="17859"/>
                </a:cubicBezTo>
                <a:cubicBezTo>
                  <a:pt x="24008" y="17859"/>
                  <a:pt x="0" y="41867"/>
                  <a:pt x="0" y="71438"/>
                </a:cubicBezTo>
                <a:cubicBezTo>
                  <a:pt x="0" y="101008"/>
                  <a:pt x="24008" y="125016"/>
                  <a:pt x="53578" y="125016"/>
                </a:cubicBezTo>
                <a:cubicBezTo>
                  <a:pt x="83149" y="125016"/>
                  <a:pt x="107156" y="101008"/>
                  <a:pt x="107156" y="71438"/>
                </a:cubicBezTo>
                <a:close/>
                <a:moveTo>
                  <a:pt x="250031" y="214313"/>
                </a:moveTo>
                <a:cubicBezTo>
                  <a:pt x="250031" y="184742"/>
                  <a:pt x="226024" y="160734"/>
                  <a:pt x="196453" y="160734"/>
                </a:cubicBezTo>
                <a:cubicBezTo>
                  <a:pt x="166883" y="160734"/>
                  <a:pt x="142875" y="184742"/>
                  <a:pt x="142875" y="214313"/>
                </a:cubicBezTo>
                <a:cubicBezTo>
                  <a:pt x="142875" y="243883"/>
                  <a:pt x="166883" y="267891"/>
                  <a:pt x="196453" y="267891"/>
                </a:cubicBezTo>
                <a:cubicBezTo>
                  <a:pt x="226024" y="267891"/>
                  <a:pt x="250031" y="243883"/>
                  <a:pt x="250031" y="214313"/>
                </a:cubicBezTo>
                <a:close/>
                <a:moveTo>
                  <a:pt x="244785" y="48332"/>
                </a:moveTo>
                <a:cubicBezTo>
                  <a:pt x="251761" y="41356"/>
                  <a:pt x="251761" y="30026"/>
                  <a:pt x="244785" y="23050"/>
                </a:cubicBezTo>
                <a:cubicBezTo>
                  <a:pt x="237809" y="16073"/>
                  <a:pt x="226479" y="16073"/>
                  <a:pt x="219503" y="23050"/>
                </a:cubicBezTo>
                <a:lnTo>
                  <a:pt x="5190" y="237362"/>
                </a:lnTo>
                <a:cubicBezTo>
                  <a:pt x="-1786" y="244339"/>
                  <a:pt x="-1786" y="255668"/>
                  <a:pt x="5190" y="262644"/>
                </a:cubicBezTo>
                <a:cubicBezTo>
                  <a:pt x="12167" y="269621"/>
                  <a:pt x="23496" y="269621"/>
                  <a:pt x="30473" y="262644"/>
                </a:cubicBezTo>
                <a:lnTo>
                  <a:pt x="244785" y="4833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419600" y="49718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Attrition Rate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0075" y="5238508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~11%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19600" y="55433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typical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39100" y="4457458"/>
            <a:ext cx="3581400" cy="1466850"/>
          </a:xfrm>
          <a:custGeom>
            <a:avLst/>
            <a:gdLst/>
            <a:ahLst/>
            <a:cxnLst/>
            <a:rect l="l" t="t" r="r" b="b"/>
            <a:pathLst>
              <a:path w="3581400" h="1466850">
                <a:moveTo>
                  <a:pt x="76203" y="0"/>
                </a:moveTo>
                <a:lnTo>
                  <a:pt x="3505197" y="0"/>
                </a:lnTo>
                <a:cubicBezTo>
                  <a:pt x="3547255" y="0"/>
                  <a:pt x="3581400" y="34145"/>
                  <a:pt x="3581400" y="76203"/>
                </a:cubicBezTo>
                <a:lnTo>
                  <a:pt x="3581400" y="1390647"/>
                </a:lnTo>
                <a:cubicBezTo>
                  <a:pt x="3581400" y="1432705"/>
                  <a:pt x="3547255" y="1466850"/>
                  <a:pt x="350519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653588" y="460985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36" name="Text 34"/>
          <p:cNvSpPr/>
          <p:nvPr/>
        </p:nvSpPr>
        <p:spPr>
          <a:xfrm>
            <a:off x="8153400" y="49718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43875" y="5238508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53400" y="5543308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large orgs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00050" y="6267208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476251"/>
                </a:lnTo>
                <a:cubicBezTo>
                  <a:pt x="11410950" y="518334"/>
                  <a:pt x="11376834" y="552450"/>
                  <a:pt x="113347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" y="6267208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600075" y="64291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1009650" y="6419608"/>
            <a:ext cx="975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Implication: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attrition is within normal range, proactive retention strategies should be implemented for high-performing employees.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REWARD &amp;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 and Performance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46597"/>
            <a:ext cx="5638800" cy="3162300"/>
          </a:xfrm>
          <a:custGeom>
            <a:avLst/>
            <a:gdLst/>
            <a:ahLst/>
            <a:cxnLst/>
            <a:rect l="l" t="t" r="r" b="b"/>
            <a:pathLst>
              <a:path w="5638800" h="3162300">
                <a:moveTo>
                  <a:pt x="76211" y="0"/>
                </a:moveTo>
                <a:lnTo>
                  <a:pt x="5562589" y="0"/>
                </a:lnTo>
                <a:cubicBezTo>
                  <a:pt x="5604679" y="0"/>
                  <a:pt x="5638800" y="34121"/>
                  <a:pt x="5638800" y="76211"/>
                </a:cubicBezTo>
                <a:lnTo>
                  <a:pt x="5638800" y="3086089"/>
                </a:lnTo>
                <a:cubicBezTo>
                  <a:pt x="5638800" y="3128179"/>
                  <a:pt x="5604679" y="3162300"/>
                  <a:pt x="5562589" y="3162300"/>
                </a:cubicBezTo>
                <a:lnTo>
                  <a:pt x="76211" y="3162300"/>
                </a:lnTo>
                <a:cubicBezTo>
                  <a:pt x="34121" y="3162300"/>
                  <a:pt x="0" y="3128179"/>
                  <a:pt x="0" y="3086089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1031" y="1594126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09625" y="1537097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vs. Salary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1994176"/>
            <a:ext cx="5257800" cy="1104900"/>
          </a:xfrm>
          <a:custGeom>
            <a:avLst/>
            <a:gdLst/>
            <a:ahLst/>
            <a:cxnLst/>
            <a:rect l="l" t="t" r="r" b="b"/>
            <a:pathLst>
              <a:path w="5257800" h="11049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028695"/>
                </a:lnTo>
                <a:cubicBezTo>
                  <a:pt x="5257800" y="1070782"/>
                  <a:pt x="5223682" y="1104900"/>
                  <a:pt x="51815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506B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6997" y="217515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53578"/>
                </a:moveTo>
                <a:cubicBezTo>
                  <a:pt x="122660" y="53578"/>
                  <a:pt x="117872" y="48790"/>
                  <a:pt x="117872" y="42863"/>
                </a:cubicBezTo>
                <a:cubicBezTo>
                  <a:pt x="117872" y="36935"/>
                  <a:pt x="122660" y="32147"/>
                  <a:pt x="128588" y="32147"/>
                </a:cubicBezTo>
                <a:lnTo>
                  <a:pt x="182166" y="32147"/>
                </a:lnTo>
                <a:cubicBezTo>
                  <a:pt x="188093" y="32147"/>
                  <a:pt x="192881" y="36935"/>
                  <a:pt x="192881" y="42863"/>
                </a:cubicBezTo>
                <a:lnTo>
                  <a:pt x="192881" y="96441"/>
                </a:lnTo>
                <a:cubicBezTo>
                  <a:pt x="192881" y="102368"/>
                  <a:pt x="188093" y="107156"/>
                  <a:pt x="182166" y="107156"/>
                </a:cubicBezTo>
                <a:cubicBezTo>
                  <a:pt x="176239" y="107156"/>
                  <a:pt x="171450" y="102368"/>
                  <a:pt x="171450" y="96441"/>
                </a:cubicBezTo>
                <a:lnTo>
                  <a:pt x="171450" y="68747"/>
                </a:lnTo>
                <a:lnTo>
                  <a:pt x="114724" y="125473"/>
                </a:lnTo>
                <a:cubicBezTo>
                  <a:pt x="110538" y="129659"/>
                  <a:pt x="103741" y="129659"/>
                  <a:pt x="99555" y="125473"/>
                </a:cubicBezTo>
                <a:lnTo>
                  <a:pt x="64294" y="90179"/>
                </a:lnTo>
                <a:lnTo>
                  <a:pt x="18284" y="136155"/>
                </a:lnTo>
                <a:cubicBezTo>
                  <a:pt x="14098" y="140341"/>
                  <a:pt x="7300" y="140341"/>
                  <a:pt x="3114" y="136155"/>
                </a:cubicBezTo>
                <a:cubicBezTo>
                  <a:pt x="-1072" y="131970"/>
                  <a:pt x="-1072" y="125172"/>
                  <a:pt x="3114" y="120986"/>
                </a:cubicBezTo>
                <a:lnTo>
                  <a:pt x="56692" y="67408"/>
                </a:lnTo>
                <a:cubicBezTo>
                  <a:pt x="60878" y="63222"/>
                  <a:pt x="67676" y="63222"/>
                  <a:pt x="71862" y="67408"/>
                </a:cubicBezTo>
                <a:lnTo>
                  <a:pt x="107156" y="102703"/>
                </a:lnTo>
                <a:lnTo>
                  <a:pt x="156281" y="53578"/>
                </a:lnTo>
                <a:lnTo>
                  <a:pt x="128588" y="53578"/>
                </a:ln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9" name="Text 7"/>
          <p:cNvSpPr/>
          <p:nvPr/>
        </p:nvSpPr>
        <p:spPr>
          <a:xfrm>
            <a:off x="1052513" y="2146576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Correlation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451376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shows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correlation with age and experience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reflecting career progression.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213376"/>
            <a:ext cx="5257800" cy="1104900"/>
          </a:xfrm>
          <a:custGeom>
            <a:avLst/>
            <a:gdLst/>
            <a:ahLst/>
            <a:cxnLst/>
            <a:rect l="l" t="t" r="r" b="b"/>
            <a:pathLst>
              <a:path w="5257800" h="11049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028695"/>
                </a:lnTo>
                <a:cubicBezTo>
                  <a:pt x="5257800" y="1070782"/>
                  <a:pt x="5223682" y="1104900"/>
                  <a:pt x="51815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6997" y="339435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2513" y="33657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Premium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670576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employees earn significantly higher compensation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validating experience-based pay structures.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346597"/>
            <a:ext cx="5638800" cy="3162300"/>
          </a:xfrm>
          <a:custGeom>
            <a:avLst/>
            <a:gdLst/>
            <a:ahLst/>
            <a:cxnLst/>
            <a:rect l="l" t="t" r="r" b="b"/>
            <a:pathLst>
              <a:path w="5638800" h="3162300">
                <a:moveTo>
                  <a:pt x="76211" y="0"/>
                </a:moveTo>
                <a:lnTo>
                  <a:pt x="5562589" y="0"/>
                </a:lnTo>
                <a:cubicBezTo>
                  <a:pt x="5604679" y="0"/>
                  <a:pt x="5638800" y="34121"/>
                  <a:pt x="5638800" y="76211"/>
                </a:cubicBezTo>
                <a:lnTo>
                  <a:pt x="5638800" y="3086089"/>
                </a:lnTo>
                <a:cubicBezTo>
                  <a:pt x="5638800" y="3128179"/>
                  <a:pt x="5604679" y="3162300"/>
                  <a:pt x="5562589" y="3162300"/>
                </a:cubicBezTo>
                <a:lnTo>
                  <a:pt x="76211" y="3162300"/>
                </a:lnTo>
                <a:cubicBezTo>
                  <a:pt x="34121" y="3162300"/>
                  <a:pt x="0" y="3128179"/>
                  <a:pt x="0" y="3086089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74606" y="159412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600825" y="1537097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vs.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62700" y="1994176"/>
            <a:ext cx="5257800" cy="1104900"/>
          </a:xfrm>
          <a:custGeom>
            <a:avLst/>
            <a:gdLst/>
            <a:ahLst/>
            <a:cxnLst/>
            <a:rect l="l" t="t" r="r" b="b"/>
            <a:pathLst>
              <a:path w="5257800" h="11049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028695"/>
                </a:lnTo>
                <a:cubicBezTo>
                  <a:pt x="5257800" y="1070782"/>
                  <a:pt x="5223682" y="1104900"/>
                  <a:pt x="51815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DA9C4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38913" y="217515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0" name="Text 18"/>
          <p:cNvSpPr/>
          <p:nvPr/>
        </p:nvSpPr>
        <p:spPr>
          <a:xfrm>
            <a:off x="6843713" y="2146576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Impact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5100" y="2451376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education levels correlate with improved performance ratings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demonstrating skill development value.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62700" y="3213376"/>
            <a:ext cx="5257800" cy="1104900"/>
          </a:xfrm>
          <a:custGeom>
            <a:avLst/>
            <a:gdLst/>
            <a:ahLst/>
            <a:cxnLst/>
            <a:rect l="l" t="t" r="r" b="b"/>
            <a:pathLst>
              <a:path w="5257800" h="11049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028695"/>
                </a:lnTo>
                <a:cubicBezTo>
                  <a:pt x="5257800" y="1070782"/>
                  <a:pt x="5223682" y="1104900"/>
                  <a:pt x="51815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506B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38913" y="339435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4" name="Text 22"/>
          <p:cNvSpPr/>
          <p:nvPr/>
        </p:nvSpPr>
        <p:spPr>
          <a:xfrm>
            <a:off x="6843713" y="3365776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Degrees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5100" y="3670576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Employees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Master's and Doctorate degrees show higher average performance scores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4661176"/>
            <a:ext cx="11430000" cy="1800225"/>
          </a:xfrm>
          <a:custGeom>
            <a:avLst/>
            <a:gdLst/>
            <a:ahLst/>
            <a:cxnLst/>
            <a:rect l="l" t="t" r="r" b="b"/>
            <a:pathLst>
              <a:path w="11430000" h="1800225">
                <a:moveTo>
                  <a:pt x="76204" y="0"/>
                </a:moveTo>
                <a:lnTo>
                  <a:pt x="11353796" y="0"/>
                </a:lnTo>
                <a:cubicBezTo>
                  <a:pt x="11395883" y="0"/>
                  <a:pt x="11430000" y="34117"/>
                  <a:pt x="11430000" y="76204"/>
                </a:cubicBezTo>
                <a:lnTo>
                  <a:pt x="11430000" y="1724021"/>
                </a:lnTo>
                <a:cubicBezTo>
                  <a:pt x="11430000" y="1766108"/>
                  <a:pt x="11395883" y="1800225"/>
                  <a:pt x="11353796" y="1800225"/>
                </a:cubicBezTo>
                <a:lnTo>
                  <a:pt x="76204" y="1800225"/>
                </a:lnTo>
                <a:cubicBezTo>
                  <a:pt x="34117" y="1800225"/>
                  <a:pt x="0" y="1766108"/>
                  <a:pt x="0" y="17240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485167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752475" y="500407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257300" y="4851676"/>
            <a:ext cx="1045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57300" y="5194576"/>
            <a:ext cx="10448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in education and training can improve workforce productivity.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Organizations should prioritize: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57300" y="5587482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62977" y="570178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0" y="5930382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Support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49760" y="5587482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331625" y="57017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825960" y="5930382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2221" y="5587482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12298" y="57017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8318421" y="5930382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Workforce Distribution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05050"/>
                </a:lnTo>
                <a:cubicBezTo>
                  <a:pt x="5619750" y="2347106"/>
                  <a:pt x="5585606" y="2381250"/>
                  <a:pt x="554355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69532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47725" y="1638300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Concentration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0953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22096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30420"/>
                </a:lnTo>
                <a:lnTo>
                  <a:pt x="120045" y="35243"/>
                </a:lnTo>
                <a:cubicBezTo>
                  <a:pt x="107305" y="39886"/>
                  <a:pt x="93256" y="39380"/>
                  <a:pt x="80873" y="33873"/>
                </a:cubicBezTo>
                <a:lnTo>
                  <a:pt x="76081" y="31730"/>
                </a:lnTo>
                <a:cubicBezTo>
                  <a:pt x="70039" y="29051"/>
                  <a:pt x="63639" y="27355"/>
                  <a:pt x="57150" y="26700"/>
                </a:cubicBezTo>
                <a:lnTo>
                  <a:pt x="57150" y="36284"/>
                </a:lnTo>
                <a:cubicBezTo>
                  <a:pt x="62329" y="36909"/>
                  <a:pt x="67389" y="38279"/>
                  <a:pt x="72211" y="40422"/>
                </a:cubicBezTo>
                <a:lnTo>
                  <a:pt x="77004" y="42565"/>
                </a:lnTo>
                <a:cubicBezTo>
                  <a:pt x="91648" y="49084"/>
                  <a:pt x="108258" y="49649"/>
                  <a:pt x="123319" y="44172"/>
                </a:cubicBezTo>
                <a:lnTo>
                  <a:pt x="133350" y="40511"/>
                </a:lnTo>
                <a:lnTo>
                  <a:pt x="133350" y="58966"/>
                </a:lnTo>
                <a:lnTo>
                  <a:pt x="120045" y="63788"/>
                </a:lnTo>
                <a:cubicBezTo>
                  <a:pt x="107305" y="68431"/>
                  <a:pt x="93256" y="67925"/>
                  <a:pt x="80873" y="62419"/>
                </a:cubicBezTo>
                <a:lnTo>
                  <a:pt x="76081" y="60275"/>
                </a:lnTo>
                <a:cubicBezTo>
                  <a:pt x="64115" y="54947"/>
                  <a:pt x="50780" y="53578"/>
                  <a:pt x="37951" y="56317"/>
                </a:cubicBezTo>
                <a:lnTo>
                  <a:pt x="19050" y="60365"/>
                </a:lnTo>
                <a:lnTo>
                  <a:pt x="19050" y="70098"/>
                </a:lnTo>
                <a:lnTo>
                  <a:pt x="39945" y="65603"/>
                </a:lnTo>
                <a:cubicBezTo>
                  <a:pt x="50780" y="63282"/>
                  <a:pt x="62061" y="64443"/>
                  <a:pt x="72211" y="68967"/>
                </a:cubicBezTo>
                <a:lnTo>
                  <a:pt x="77004" y="71110"/>
                </a:lnTo>
                <a:cubicBezTo>
                  <a:pt x="91648" y="77629"/>
                  <a:pt x="108258" y="78194"/>
                  <a:pt x="123319" y="72717"/>
                </a:cubicBezTo>
                <a:lnTo>
                  <a:pt x="133350" y="69056"/>
                </a:lnTo>
                <a:lnTo>
                  <a:pt x="133350" y="87481"/>
                </a:lnTo>
                <a:lnTo>
                  <a:pt x="120045" y="92303"/>
                </a:lnTo>
                <a:cubicBezTo>
                  <a:pt x="107305" y="96947"/>
                  <a:pt x="93256" y="96441"/>
                  <a:pt x="80873" y="90934"/>
                </a:cubicBezTo>
                <a:lnTo>
                  <a:pt x="76081" y="88791"/>
                </a:lnTo>
                <a:cubicBezTo>
                  <a:pt x="64115" y="83463"/>
                  <a:pt x="50780" y="82094"/>
                  <a:pt x="37951" y="84832"/>
                </a:cubicBezTo>
                <a:lnTo>
                  <a:pt x="19050" y="88880"/>
                </a:lnTo>
                <a:lnTo>
                  <a:pt x="19050" y="98614"/>
                </a:lnTo>
                <a:lnTo>
                  <a:pt x="39945" y="94119"/>
                </a:lnTo>
                <a:cubicBezTo>
                  <a:pt x="50780" y="91797"/>
                  <a:pt x="62061" y="92958"/>
                  <a:pt x="72211" y="97482"/>
                </a:cubicBezTo>
                <a:lnTo>
                  <a:pt x="77004" y="99626"/>
                </a:lnTo>
                <a:cubicBezTo>
                  <a:pt x="91648" y="106144"/>
                  <a:pt x="108258" y="106710"/>
                  <a:pt x="123319" y="101233"/>
                </a:cubicBezTo>
                <a:lnTo>
                  <a:pt x="133350" y="97572"/>
                </a:lnTo>
                <a:lnTo>
                  <a:pt x="133350" y="107543"/>
                </a:lnTo>
                <a:cubicBezTo>
                  <a:pt x="133350" y="111502"/>
                  <a:pt x="130879" y="115074"/>
                  <a:pt x="127159" y="116473"/>
                </a:cubicBezTo>
                <a:lnTo>
                  <a:pt x="116830" y="120342"/>
                </a:lnTo>
                <a:cubicBezTo>
                  <a:pt x="103078" y="125492"/>
                  <a:pt x="87779" y="124688"/>
                  <a:pt x="74652" y="118140"/>
                </a:cubicBezTo>
                <a:cubicBezTo>
                  <a:pt x="63371" y="112484"/>
                  <a:pt x="50423" y="111085"/>
                  <a:pt x="38189" y="114151"/>
                </a:cubicBezTo>
                <a:lnTo>
                  <a:pt x="19050" y="119062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33338" y="28575"/>
                </a:moveTo>
                <a:cubicBezTo>
                  <a:pt x="33338" y="25947"/>
                  <a:pt x="31203" y="23813"/>
                  <a:pt x="28575" y="23813"/>
                </a:cubicBezTo>
                <a:cubicBezTo>
                  <a:pt x="25947" y="23813"/>
                  <a:pt x="23813" y="25947"/>
                  <a:pt x="23813" y="28575"/>
                </a:cubicBezTo>
                <a:cubicBezTo>
                  <a:pt x="23813" y="31203"/>
                  <a:pt x="25947" y="33338"/>
                  <a:pt x="28575" y="33338"/>
                </a:cubicBezTo>
                <a:cubicBezTo>
                  <a:pt x="31203" y="33338"/>
                  <a:pt x="33338" y="31203"/>
                  <a:pt x="33338" y="28575"/>
                </a:cubicBezTo>
                <a:close/>
                <a:moveTo>
                  <a:pt x="42863" y="28575"/>
                </a:moveTo>
                <a:cubicBezTo>
                  <a:pt x="45491" y="28575"/>
                  <a:pt x="47625" y="26441"/>
                  <a:pt x="47625" y="23813"/>
                </a:cubicBezTo>
                <a:cubicBezTo>
                  <a:pt x="47625" y="21184"/>
                  <a:pt x="45491" y="19050"/>
                  <a:pt x="42863" y="19050"/>
                </a:cubicBezTo>
                <a:cubicBezTo>
                  <a:pt x="40234" y="19050"/>
                  <a:pt x="38100" y="21184"/>
                  <a:pt x="38100" y="23813"/>
                </a:cubicBezTo>
                <a:cubicBezTo>
                  <a:pt x="38100" y="26441"/>
                  <a:pt x="40234" y="28575"/>
                  <a:pt x="42863" y="28575"/>
                </a:cubicBezTo>
                <a:close/>
                <a:moveTo>
                  <a:pt x="33338" y="42863"/>
                </a:moveTo>
                <a:cubicBezTo>
                  <a:pt x="33338" y="40234"/>
                  <a:pt x="31203" y="38100"/>
                  <a:pt x="28575" y="38100"/>
                </a:cubicBezTo>
                <a:cubicBezTo>
                  <a:pt x="25947" y="38100"/>
                  <a:pt x="23813" y="40234"/>
                  <a:pt x="23813" y="42863"/>
                </a:cubicBezTo>
                <a:cubicBezTo>
                  <a:pt x="23813" y="45491"/>
                  <a:pt x="25947" y="47625"/>
                  <a:pt x="28575" y="47625"/>
                </a:cubicBezTo>
                <a:cubicBezTo>
                  <a:pt x="31203" y="47625"/>
                  <a:pt x="33338" y="45491"/>
                  <a:pt x="33338" y="42863"/>
                </a:cubicBezTo>
                <a:close/>
                <a:moveTo>
                  <a:pt x="42863" y="42863"/>
                </a:moveTo>
                <a:cubicBezTo>
                  <a:pt x="45491" y="42863"/>
                  <a:pt x="47625" y="40728"/>
                  <a:pt x="47625" y="38100"/>
                </a:cubicBezTo>
                <a:cubicBezTo>
                  <a:pt x="47625" y="35472"/>
                  <a:pt x="45491" y="33338"/>
                  <a:pt x="42863" y="33338"/>
                </a:cubicBezTo>
                <a:cubicBezTo>
                  <a:pt x="40234" y="33338"/>
                  <a:pt x="38100" y="35472"/>
                  <a:pt x="38100" y="38100"/>
                </a:cubicBezTo>
                <a:cubicBezTo>
                  <a:pt x="38100" y="40728"/>
                  <a:pt x="40234" y="42863"/>
                  <a:pt x="42863" y="42863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095379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US-Focused: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Workforce is concentrated in major US states, reflecting domestic operational focus.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7430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2950" y="285737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2743079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Hubs: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Certain states show higher employee density, indicating established operational centers.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0" y="1409700"/>
            <a:ext cx="5619750" cy="2381250"/>
          </a:xfrm>
          <a:custGeom>
            <a:avLst/>
            <a:gdLst/>
            <a:ahLst/>
            <a:cxnLst/>
            <a:rect l="l" t="t" r="r" b="b"/>
            <a:pathLst>
              <a:path w="5619750" h="238125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05050"/>
                </a:lnTo>
                <a:cubicBezTo>
                  <a:pt x="5619750" y="2347106"/>
                  <a:pt x="5585606" y="2381250"/>
                  <a:pt x="5543550" y="2381250"/>
                </a:cubicBezTo>
                <a:lnTo>
                  <a:pt x="76200" y="2381250"/>
                </a:lnTo>
                <a:cubicBezTo>
                  <a:pt x="34144" y="2381250"/>
                  <a:pt x="0" y="2347106"/>
                  <a:pt x="0" y="2305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3663" y="16953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7975" y="1638300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3663" y="213347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463" y="2095379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State-Level Variance: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 concentration varies significantly by state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3663" y="274307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463" y="2704979"/>
            <a:ext cx="473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Focus: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Higher density in metropolitan and business hub regions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3663" y="310502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463" y="3066929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Placement: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Locations align with business needs and talent availability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981329"/>
            <a:ext cx="11410950" cy="1362075"/>
          </a:xfrm>
          <a:custGeom>
            <a:avLst/>
            <a:gdLst/>
            <a:ahLst/>
            <a:cxnLst/>
            <a:rect l="l" t="t" r="r" b="b"/>
            <a:pathLst>
              <a:path w="11410950" h="1362075">
                <a:moveTo>
                  <a:pt x="38100" y="0"/>
                </a:moveTo>
                <a:lnTo>
                  <a:pt x="11334756" y="0"/>
                </a:lnTo>
                <a:cubicBezTo>
                  <a:pt x="11376837" y="0"/>
                  <a:pt x="11410950" y="34113"/>
                  <a:pt x="11410950" y="76194"/>
                </a:cubicBezTo>
                <a:lnTo>
                  <a:pt x="11410950" y="1285881"/>
                </a:lnTo>
                <a:cubicBezTo>
                  <a:pt x="11410950" y="1327962"/>
                  <a:pt x="11376837" y="1362075"/>
                  <a:pt x="11334756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981329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" y="420992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8675" y="436232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4209929"/>
            <a:ext cx="1034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Implication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33500" y="4552829"/>
            <a:ext cx="10334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workforce concentration impacts regional HR policies and office infrastructure planning.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Understanding these patterns enables targeted talent acquisition and optimized resource allocation.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548192"/>
            <a:ext cx="2743200" cy="1162050"/>
          </a:xfrm>
          <a:custGeom>
            <a:avLst/>
            <a:gdLst/>
            <a:ahLst/>
            <a:cxnLst/>
            <a:rect l="l" t="t" r="r" b="b"/>
            <a:pathLst>
              <a:path w="2743200" h="1162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085854"/>
                </a:lnTo>
                <a:cubicBezTo>
                  <a:pt x="2743200" y="1127936"/>
                  <a:pt x="2709086" y="1162050"/>
                  <a:pt x="26670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000" y="554819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0" name="Shape 28"/>
          <p:cNvSpPr/>
          <p:nvPr/>
        </p:nvSpPr>
        <p:spPr>
          <a:xfrm>
            <a:off x="1666875" y="571964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1" name="Text 29"/>
          <p:cNvSpPr/>
          <p:nvPr/>
        </p:nvSpPr>
        <p:spPr>
          <a:xfrm>
            <a:off x="495300" y="602444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0538" y="6291142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Multi-State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6600" y="5548192"/>
            <a:ext cx="2743200" cy="1162050"/>
          </a:xfrm>
          <a:custGeom>
            <a:avLst/>
            <a:gdLst/>
            <a:ahLst/>
            <a:cxnLst/>
            <a:rect l="l" t="t" r="r" b="b"/>
            <a:pathLst>
              <a:path w="2743200" h="1162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085854"/>
                </a:lnTo>
                <a:cubicBezTo>
                  <a:pt x="2743200" y="1127936"/>
                  <a:pt x="2709086" y="1162050"/>
                  <a:pt x="26670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6600" y="554819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2475" y="571964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390900" y="602444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86138" y="6291142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2200" y="5548192"/>
            <a:ext cx="2743200" cy="1162050"/>
          </a:xfrm>
          <a:custGeom>
            <a:avLst/>
            <a:gdLst/>
            <a:ahLst/>
            <a:cxnLst/>
            <a:rect l="l" t="t" r="r" b="b"/>
            <a:pathLst>
              <a:path w="2743200" h="1162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085854"/>
                </a:lnTo>
                <a:cubicBezTo>
                  <a:pt x="2743200" y="1127936"/>
                  <a:pt x="2709086" y="1162050"/>
                  <a:pt x="26670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554819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0" name="Shape 38"/>
          <p:cNvSpPr/>
          <p:nvPr/>
        </p:nvSpPr>
        <p:spPr>
          <a:xfrm>
            <a:off x="7400925" y="57196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41" name="Text 39"/>
          <p:cNvSpPr/>
          <p:nvPr/>
        </p:nvSpPr>
        <p:spPr>
          <a:xfrm>
            <a:off x="6286500" y="602444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1738" y="6291142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67800" y="5548192"/>
            <a:ext cx="2743200" cy="1162050"/>
          </a:xfrm>
          <a:custGeom>
            <a:avLst/>
            <a:gdLst/>
            <a:ahLst/>
            <a:cxnLst/>
            <a:rect l="l" t="t" r="r" b="b"/>
            <a:pathLst>
              <a:path w="2743200" h="11620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085854"/>
                </a:lnTo>
                <a:cubicBezTo>
                  <a:pt x="2743200" y="1127936"/>
                  <a:pt x="2709086" y="1162050"/>
                  <a:pt x="26670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67800" y="554819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325100" y="57196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46" name="Text 44"/>
          <p:cNvSpPr/>
          <p:nvPr/>
        </p:nvSpPr>
        <p:spPr>
          <a:xfrm>
            <a:off x="9182100" y="602444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77338" y="6291142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DIRECTION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5791200" cy="5295900"/>
          </a:xfrm>
          <a:custGeom>
            <a:avLst/>
            <a:gdLst/>
            <a:ahLst/>
            <a:cxnLst/>
            <a:rect l="l" t="t" r="r" b="b"/>
            <a:pathLst>
              <a:path w="5791200" h="5295900">
                <a:moveTo>
                  <a:pt x="76208" y="0"/>
                </a:moveTo>
                <a:lnTo>
                  <a:pt x="5714992" y="0"/>
                </a:lnTo>
                <a:cubicBezTo>
                  <a:pt x="5757052" y="0"/>
                  <a:pt x="5791200" y="34148"/>
                  <a:pt x="5791200" y="76208"/>
                </a:cubicBezTo>
                <a:lnTo>
                  <a:pt x="5791200" y="5219692"/>
                </a:lnTo>
                <a:cubicBezTo>
                  <a:pt x="5791200" y="5261781"/>
                  <a:pt x="5757081" y="5295900"/>
                  <a:pt x="571499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2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71525" y="1333500"/>
            <a:ext cx="534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Business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2450" y="17145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91153" y="0"/>
                </a:lnTo>
                <a:cubicBezTo>
                  <a:pt x="5433235" y="0"/>
                  <a:pt x="5467350" y="34115"/>
                  <a:pt x="5467350" y="76197"/>
                </a:cubicBezTo>
                <a:lnTo>
                  <a:pt x="5467350" y="838203"/>
                </a:lnTo>
                <a:cubicBezTo>
                  <a:pt x="5467350" y="880285"/>
                  <a:pt x="5433235" y="914400"/>
                  <a:pt x="539115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2450" y="1714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0" name="Text 8"/>
          <p:cNvSpPr/>
          <p:nvPr/>
        </p:nvSpPr>
        <p:spPr>
          <a:xfrm>
            <a:off x="652463" y="18288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18288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Demographics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095500"/>
            <a:ext cx="499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is balanced across gender and age groups, indicating inclusive practices.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2743200"/>
            <a:ext cx="5467350" cy="704850"/>
          </a:xfrm>
          <a:custGeom>
            <a:avLst/>
            <a:gdLst/>
            <a:ahLst/>
            <a:cxnLst/>
            <a:rect l="l" t="t" r="r" b="b"/>
            <a:pathLst>
              <a:path w="5467350" h="704850">
                <a:moveTo>
                  <a:pt x="38100" y="0"/>
                </a:moveTo>
                <a:lnTo>
                  <a:pt x="5391149" y="0"/>
                </a:lnTo>
                <a:cubicBezTo>
                  <a:pt x="5433234" y="0"/>
                  <a:pt x="5467350" y="34116"/>
                  <a:pt x="5467350" y="76201"/>
                </a:cubicBezTo>
                <a:lnTo>
                  <a:pt x="5467350" y="628649"/>
                </a:lnTo>
                <a:cubicBezTo>
                  <a:pt x="5467350" y="670734"/>
                  <a:pt x="5433234" y="704850"/>
                  <a:pt x="53911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2450" y="274320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857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63" y="28575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8575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3124200"/>
            <a:ext cx="499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level strongly influences salary and performance outcomes.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3562350"/>
            <a:ext cx="5467350" cy="704850"/>
          </a:xfrm>
          <a:custGeom>
            <a:avLst/>
            <a:gdLst/>
            <a:ahLst/>
            <a:cxnLst/>
            <a:rect l="l" t="t" r="r" b="b"/>
            <a:pathLst>
              <a:path w="5467350" h="704850">
                <a:moveTo>
                  <a:pt x="38100" y="0"/>
                </a:moveTo>
                <a:lnTo>
                  <a:pt x="5391149" y="0"/>
                </a:lnTo>
                <a:cubicBezTo>
                  <a:pt x="5433234" y="0"/>
                  <a:pt x="5467350" y="34116"/>
                  <a:pt x="5467350" y="76201"/>
                </a:cubicBezTo>
                <a:lnTo>
                  <a:pt x="5467350" y="628649"/>
                </a:lnTo>
                <a:cubicBezTo>
                  <a:pt x="5467350" y="670734"/>
                  <a:pt x="5433234" y="704850"/>
                  <a:pt x="53911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2450" y="35623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2" name="Text 20"/>
          <p:cNvSpPr/>
          <p:nvPr/>
        </p:nvSpPr>
        <p:spPr>
          <a:xfrm>
            <a:off x="652463" y="367665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367665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Growth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3943350"/>
            <a:ext cx="499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Hiring growth indicates expanding organizational scale and investment.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450" y="4381500"/>
            <a:ext cx="5467350" cy="704850"/>
          </a:xfrm>
          <a:custGeom>
            <a:avLst/>
            <a:gdLst/>
            <a:ahLst/>
            <a:cxnLst/>
            <a:rect l="l" t="t" r="r" b="b"/>
            <a:pathLst>
              <a:path w="5467350" h="704850">
                <a:moveTo>
                  <a:pt x="38100" y="0"/>
                </a:moveTo>
                <a:lnTo>
                  <a:pt x="5391149" y="0"/>
                </a:lnTo>
                <a:cubicBezTo>
                  <a:pt x="5433234" y="0"/>
                  <a:pt x="5467350" y="34116"/>
                  <a:pt x="5467350" y="76201"/>
                </a:cubicBezTo>
                <a:lnTo>
                  <a:pt x="5467350" y="628649"/>
                </a:lnTo>
                <a:cubicBezTo>
                  <a:pt x="5467350" y="670734"/>
                  <a:pt x="5433234" y="704850"/>
                  <a:pt x="53911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2450" y="438150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49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28" name="Text 26"/>
          <p:cNvSpPr/>
          <p:nvPr/>
        </p:nvSpPr>
        <p:spPr>
          <a:xfrm>
            <a:off x="652463" y="449580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0600" y="44958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Attrition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4762500"/>
            <a:ext cx="499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Attrition is stable but requires monitoring to prevent talent loss.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2450" y="5200645"/>
            <a:ext cx="5467350" cy="704850"/>
          </a:xfrm>
          <a:custGeom>
            <a:avLst/>
            <a:gdLst/>
            <a:ahLst/>
            <a:cxnLst/>
            <a:rect l="l" t="t" r="r" b="b"/>
            <a:pathLst>
              <a:path w="5467350" h="704850">
                <a:moveTo>
                  <a:pt x="38100" y="0"/>
                </a:moveTo>
                <a:lnTo>
                  <a:pt x="5391149" y="0"/>
                </a:lnTo>
                <a:cubicBezTo>
                  <a:pt x="5433234" y="0"/>
                  <a:pt x="5467350" y="34116"/>
                  <a:pt x="5467350" y="76201"/>
                </a:cubicBezTo>
                <a:lnTo>
                  <a:pt x="5467350" y="628649"/>
                </a:lnTo>
                <a:cubicBezTo>
                  <a:pt x="5467350" y="670734"/>
                  <a:pt x="5433234" y="704850"/>
                  <a:pt x="5391149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" y="5200645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53149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52463" y="531494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0600" y="531494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Clustering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0600" y="5581645"/>
            <a:ext cx="499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clustering suggests centralized operational regions.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4600" y="1181100"/>
            <a:ext cx="5486400" cy="3352800"/>
          </a:xfrm>
          <a:custGeom>
            <a:avLst/>
            <a:gdLst/>
            <a:ahLst/>
            <a:cxnLst/>
            <a:rect l="l" t="t" r="r" b="b"/>
            <a:pathLst>
              <a:path w="5486400" h="3352800">
                <a:moveTo>
                  <a:pt x="76209" y="0"/>
                </a:moveTo>
                <a:lnTo>
                  <a:pt x="5410191" y="0"/>
                </a:lnTo>
                <a:cubicBezTo>
                  <a:pt x="5452280" y="0"/>
                  <a:pt x="5486400" y="34120"/>
                  <a:pt x="5486400" y="76209"/>
                </a:cubicBezTo>
                <a:lnTo>
                  <a:pt x="5486400" y="3276591"/>
                </a:lnTo>
                <a:cubicBezTo>
                  <a:pt x="5486400" y="3318680"/>
                  <a:pt x="5452280" y="3352800"/>
                  <a:pt x="5410191" y="3352800"/>
                </a:cubicBezTo>
                <a:lnTo>
                  <a:pt x="76209" y="3352800"/>
                </a:lnTo>
                <a:cubicBezTo>
                  <a:pt x="34120" y="3352800"/>
                  <a:pt x="0" y="3318680"/>
                  <a:pt x="0" y="327659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8" name="Shape 36"/>
          <p:cNvSpPr/>
          <p:nvPr/>
        </p:nvSpPr>
        <p:spPr>
          <a:xfrm>
            <a:off x="6524625" y="137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-11906"/>
                </a:moveTo>
                <a:cubicBezTo>
                  <a:pt x="110877" y="-11906"/>
                  <a:pt x="142875" y="20092"/>
                  <a:pt x="142875" y="59531"/>
                </a:cubicBezTo>
                <a:lnTo>
                  <a:pt x="142875" y="109203"/>
                </a:lnTo>
                <a:cubicBezTo>
                  <a:pt x="142875" y="115528"/>
                  <a:pt x="140345" y="121555"/>
                  <a:pt x="135917" y="126020"/>
                </a:cubicBezTo>
                <a:lnTo>
                  <a:pt x="119063" y="142875"/>
                </a:lnTo>
                <a:lnTo>
                  <a:pt x="137964" y="161739"/>
                </a:lnTo>
                <a:cubicBezTo>
                  <a:pt x="141126" y="164902"/>
                  <a:pt x="142875" y="169180"/>
                  <a:pt x="142875" y="173645"/>
                </a:cubicBezTo>
                <a:cubicBezTo>
                  <a:pt x="142875" y="182947"/>
                  <a:pt x="135322" y="190463"/>
                  <a:pt x="126057" y="190500"/>
                </a:cubicBezTo>
                <a:lnTo>
                  <a:pt x="16855" y="190500"/>
                </a:lnTo>
                <a:cubicBezTo>
                  <a:pt x="7553" y="190500"/>
                  <a:pt x="37" y="182947"/>
                  <a:pt x="37" y="173645"/>
                </a:cubicBezTo>
                <a:cubicBezTo>
                  <a:pt x="37" y="169180"/>
                  <a:pt x="1823" y="164902"/>
                  <a:pt x="4949" y="161739"/>
                </a:cubicBezTo>
                <a:lnTo>
                  <a:pt x="23812" y="142875"/>
                </a:lnTo>
                <a:lnTo>
                  <a:pt x="23812" y="130001"/>
                </a:lnTo>
                <a:cubicBezTo>
                  <a:pt x="23812" y="123044"/>
                  <a:pt x="26863" y="116458"/>
                  <a:pt x="32110" y="111919"/>
                </a:cubicBezTo>
                <a:lnTo>
                  <a:pt x="65484" y="83344"/>
                </a:lnTo>
                <a:lnTo>
                  <a:pt x="47625" y="83344"/>
                </a:lnTo>
                <a:lnTo>
                  <a:pt x="43123" y="87846"/>
                </a:lnTo>
                <a:cubicBezTo>
                  <a:pt x="38398" y="92571"/>
                  <a:pt x="31961" y="95250"/>
                  <a:pt x="25264" y="95250"/>
                </a:cubicBezTo>
                <a:cubicBezTo>
                  <a:pt x="11311" y="95250"/>
                  <a:pt x="0" y="83939"/>
                  <a:pt x="0" y="69986"/>
                </a:cubicBezTo>
                <a:lnTo>
                  <a:pt x="0" y="66749"/>
                </a:lnTo>
                <a:cubicBezTo>
                  <a:pt x="0" y="58266"/>
                  <a:pt x="3051" y="50043"/>
                  <a:pt x="8595" y="43569"/>
                </a:cubicBezTo>
                <a:lnTo>
                  <a:pt x="35719" y="11906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lnTo>
                  <a:pt x="71438" y="-11906"/>
                </a:lnTo>
                <a:close/>
                <a:moveTo>
                  <a:pt x="59531" y="26789"/>
                </a:moveTo>
                <a:cubicBezTo>
                  <a:pt x="54603" y="26789"/>
                  <a:pt x="50602" y="30790"/>
                  <a:pt x="50602" y="35719"/>
                </a:cubicBezTo>
                <a:cubicBezTo>
                  <a:pt x="50602" y="40647"/>
                  <a:pt x="54603" y="44648"/>
                  <a:pt x="59531" y="44648"/>
                </a:cubicBezTo>
                <a:cubicBezTo>
                  <a:pt x="64460" y="44648"/>
                  <a:pt x="68461" y="40647"/>
                  <a:pt x="68461" y="35719"/>
                </a:cubicBezTo>
                <a:cubicBezTo>
                  <a:pt x="68461" y="30790"/>
                  <a:pt x="64460" y="26789"/>
                  <a:pt x="59531" y="2678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6715125" y="1333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7000" y="1714500"/>
            <a:ext cx="5181600" cy="857250"/>
          </a:xfrm>
          <a:custGeom>
            <a:avLst/>
            <a:gdLst/>
            <a:ahLst/>
            <a:cxnLst/>
            <a:rect l="l" t="t" r="r" b="b"/>
            <a:pathLst>
              <a:path w="5181600" h="85725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81049"/>
                </a:lnTo>
                <a:cubicBezTo>
                  <a:pt x="5181600" y="823134"/>
                  <a:pt x="5147484" y="857250"/>
                  <a:pt x="510539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2966" y="18573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77406" y="133350"/>
                </a:lnTo>
                <a:cubicBezTo>
                  <a:pt x="67977" y="122255"/>
                  <a:pt x="62508" y="107956"/>
                  <a:pt x="62508" y="92824"/>
                </a:cubicBezTo>
                <a:lnTo>
                  <a:pt x="62508" y="84724"/>
                </a:lnTo>
                <a:cubicBezTo>
                  <a:pt x="62508" y="82823"/>
                  <a:pt x="62768" y="80948"/>
                  <a:pt x="63263" y="79177"/>
                </a:cubicBezTo>
                <a:lnTo>
                  <a:pt x="50605" y="79177"/>
                </a:lnTo>
                <a:close/>
                <a:moveTo>
                  <a:pt x="115978" y="127229"/>
                </a:moveTo>
                <a:lnTo>
                  <a:pt x="112514" y="128870"/>
                </a:lnTo>
                <a:lnTo>
                  <a:pt x="112514" y="79880"/>
                </a:lnTo>
                <a:lnTo>
                  <a:pt x="137517" y="88214"/>
                </a:lnTo>
                <a:lnTo>
                  <a:pt x="137517" y="93319"/>
                </a:lnTo>
                <a:cubicBezTo>
                  <a:pt x="137517" y="107852"/>
                  <a:pt x="129131" y="121057"/>
                  <a:pt x="115978" y="127255"/>
                </a:cubicBezTo>
                <a:close/>
                <a:moveTo>
                  <a:pt x="109884" y="67587"/>
                </a:moveTo>
                <a:lnTo>
                  <a:pt x="80713" y="77301"/>
                </a:lnTo>
                <a:cubicBezTo>
                  <a:pt x="77301" y="78447"/>
                  <a:pt x="75009" y="81625"/>
                  <a:pt x="75009" y="85219"/>
                </a:cubicBezTo>
                <a:lnTo>
                  <a:pt x="75009" y="93319"/>
                </a:lnTo>
                <a:cubicBezTo>
                  <a:pt x="75009" y="112696"/>
                  <a:pt x="86209" y="130329"/>
                  <a:pt x="103711" y="138559"/>
                </a:cubicBezTo>
                <a:lnTo>
                  <a:pt x="108529" y="140825"/>
                </a:lnTo>
                <a:cubicBezTo>
                  <a:pt x="109779" y="141398"/>
                  <a:pt x="111134" y="141710"/>
                  <a:pt x="112488" y="141710"/>
                </a:cubicBezTo>
                <a:cubicBezTo>
                  <a:pt x="113842" y="141710"/>
                  <a:pt x="115223" y="141398"/>
                  <a:pt x="116447" y="140825"/>
                </a:cubicBezTo>
                <a:lnTo>
                  <a:pt x="121265" y="138559"/>
                </a:lnTo>
                <a:cubicBezTo>
                  <a:pt x="138819" y="130303"/>
                  <a:pt x="150019" y="112670"/>
                  <a:pt x="150019" y="93293"/>
                </a:cubicBezTo>
                <a:lnTo>
                  <a:pt x="150019" y="85193"/>
                </a:lnTo>
                <a:cubicBezTo>
                  <a:pt x="150019" y="81599"/>
                  <a:pt x="147727" y="78421"/>
                  <a:pt x="144315" y="77275"/>
                </a:cubicBezTo>
                <a:lnTo>
                  <a:pt x="115145" y="67561"/>
                </a:lnTo>
                <a:cubicBezTo>
                  <a:pt x="113426" y="66988"/>
                  <a:pt x="111576" y="66988"/>
                  <a:pt x="109884" y="6756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743700" y="180975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Strategy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2250" y="205740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Implement retention programs for senior employees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72250" y="226695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predictive attrition modeling to reduce turnover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7000" y="2647950"/>
            <a:ext cx="5181600" cy="857250"/>
          </a:xfrm>
          <a:custGeom>
            <a:avLst/>
            <a:gdLst/>
            <a:ahLst/>
            <a:cxnLst/>
            <a:rect l="l" t="t" r="r" b="b"/>
            <a:pathLst>
              <a:path w="5181600" h="85725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81049"/>
                </a:lnTo>
                <a:cubicBezTo>
                  <a:pt x="5181600" y="823134"/>
                  <a:pt x="5147484" y="857250"/>
                  <a:pt x="510539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16303" y="27908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6743700" y="27432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Compensation Strategy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72250" y="299085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Align salary structures with education and performance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72250" y="320040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Introduce performance-based incentives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77000" y="3581400"/>
            <a:ext cx="5181600" cy="857250"/>
          </a:xfrm>
          <a:custGeom>
            <a:avLst/>
            <a:gdLst/>
            <a:ahLst/>
            <a:cxnLst/>
            <a:rect l="l" t="t" r="r" b="b"/>
            <a:pathLst>
              <a:path w="5181600" h="85725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81049"/>
                </a:lnTo>
                <a:cubicBezTo>
                  <a:pt x="5181600" y="823134"/>
                  <a:pt x="5147484" y="857250"/>
                  <a:pt x="510539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82966" y="37242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6743700" y="367665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Talent Development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72250" y="392430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Encourage higher education for career progression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72250" y="413385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Invest in training programs to improve performance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77000" y="4514850"/>
            <a:ext cx="5181600" cy="857250"/>
          </a:xfrm>
          <a:custGeom>
            <a:avLst/>
            <a:gdLst/>
            <a:ahLst/>
            <a:cxnLst/>
            <a:rect l="l" t="t" r="r" b="b"/>
            <a:pathLst>
              <a:path w="5181600" h="85725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81049"/>
                </a:lnTo>
                <a:cubicBezTo>
                  <a:pt x="5181600" y="823134"/>
                  <a:pt x="5147484" y="857250"/>
                  <a:pt x="510539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74631" y="46577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50019" y="12502"/>
                </a:moveTo>
                <a:cubicBezTo>
                  <a:pt x="150019" y="9611"/>
                  <a:pt x="148534" y="6928"/>
                  <a:pt x="146060" y="5417"/>
                </a:cubicBezTo>
                <a:cubicBezTo>
                  <a:pt x="143586" y="3907"/>
                  <a:pt x="140538" y="3750"/>
                  <a:pt x="137960" y="5053"/>
                </a:cubicBezTo>
                <a:lnTo>
                  <a:pt x="107696" y="20185"/>
                </a:lnTo>
                <a:lnTo>
                  <a:pt x="60971" y="4584"/>
                </a:lnTo>
                <a:cubicBezTo>
                  <a:pt x="58862" y="3881"/>
                  <a:pt x="56596" y="4037"/>
                  <a:pt x="54616" y="5027"/>
                </a:cubicBezTo>
                <a:lnTo>
                  <a:pt x="21279" y="21695"/>
                </a:lnTo>
                <a:cubicBezTo>
                  <a:pt x="18440" y="23128"/>
                  <a:pt x="16669" y="26019"/>
                  <a:pt x="16669" y="29170"/>
                </a:cubicBezTo>
                <a:lnTo>
                  <a:pt x="16669" y="120848"/>
                </a:lnTo>
                <a:cubicBezTo>
                  <a:pt x="16669" y="123739"/>
                  <a:pt x="18153" y="126422"/>
                  <a:pt x="20628" y="127933"/>
                </a:cubicBezTo>
                <a:cubicBezTo>
                  <a:pt x="23102" y="129443"/>
                  <a:pt x="26149" y="129600"/>
                  <a:pt x="28728" y="128297"/>
                </a:cubicBezTo>
                <a:lnTo>
                  <a:pt x="58966" y="113165"/>
                </a:lnTo>
                <a:lnTo>
                  <a:pt x="104102" y="128219"/>
                </a:lnTo>
                <a:cubicBezTo>
                  <a:pt x="102982" y="126552"/>
                  <a:pt x="101888" y="124807"/>
                  <a:pt x="100820" y="123036"/>
                </a:cubicBezTo>
                <a:cubicBezTo>
                  <a:pt x="97955" y="118270"/>
                  <a:pt x="95116" y="112801"/>
                  <a:pt x="93006" y="106940"/>
                </a:cubicBezTo>
                <a:lnTo>
                  <a:pt x="66649" y="98163"/>
                </a:lnTo>
                <a:lnTo>
                  <a:pt x="66649" y="24066"/>
                </a:lnTo>
                <a:lnTo>
                  <a:pt x="99986" y="35187"/>
                </a:lnTo>
                <a:lnTo>
                  <a:pt x="99986" y="61049"/>
                </a:lnTo>
                <a:cubicBezTo>
                  <a:pt x="108060" y="51725"/>
                  <a:pt x="120041" y="45839"/>
                  <a:pt x="133324" y="45839"/>
                </a:cubicBezTo>
                <a:cubicBezTo>
                  <a:pt x="139210" y="45839"/>
                  <a:pt x="144836" y="46985"/>
                  <a:pt x="149993" y="49095"/>
                </a:cubicBezTo>
                <a:lnTo>
                  <a:pt x="150019" y="12502"/>
                </a:lnTo>
                <a:close/>
                <a:moveTo>
                  <a:pt x="133350" y="58341"/>
                </a:moveTo>
                <a:cubicBezTo>
                  <a:pt x="116082" y="58341"/>
                  <a:pt x="102096" y="72092"/>
                  <a:pt x="102096" y="89048"/>
                </a:cubicBezTo>
                <a:cubicBezTo>
                  <a:pt x="102096" y="106993"/>
                  <a:pt x="118791" y="128219"/>
                  <a:pt x="127776" y="138351"/>
                </a:cubicBezTo>
                <a:cubicBezTo>
                  <a:pt x="130798" y="141736"/>
                  <a:pt x="135928" y="141736"/>
                  <a:pt x="138950" y="138351"/>
                </a:cubicBezTo>
                <a:cubicBezTo>
                  <a:pt x="147935" y="128219"/>
                  <a:pt x="164630" y="106993"/>
                  <a:pt x="164630" y="89048"/>
                </a:cubicBezTo>
                <a:cubicBezTo>
                  <a:pt x="164630" y="72092"/>
                  <a:pt x="150644" y="58341"/>
                  <a:pt x="133376" y="58341"/>
                </a:cubicBezTo>
                <a:close/>
                <a:moveTo>
                  <a:pt x="122932" y="89595"/>
                </a:moveTo>
                <a:cubicBezTo>
                  <a:pt x="122932" y="83845"/>
                  <a:pt x="127600" y="79177"/>
                  <a:pt x="133350" y="79177"/>
                </a:cubicBezTo>
                <a:cubicBezTo>
                  <a:pt x="139100" y="79177"/>
                  <a:pt x="143768" y="83845"/>
                  <a:pt x="143768" y="89595"/>
                </a:cubicBezTo>
                <a:cubicBezTo>
                  <a:pt x="143768" y="95344"/>
                  <a:pt x="139100" y="100013"/>
                  <a:pt x="133350" y="100013"/>
                </a:cubicBezTo>
                <a:cubicBezTo>
                  <a:pt x="127600" y="100013"/>
                  <a:pt x="122932" y="95344"/>
                  <a:pt x="122932" y="8959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6743700" y="46101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HR Planning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72250" y="4857750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Strengthen HR policies in high-density states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72250" y="5067295"/>
            <a:ext cx="506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Consider regional talent acquisition strategies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43650" y="4648200"/>
            <a:ext cx="5467350" cy="1828800"/>
          </a:xfrm>
          <a:custGeom>
            <a:avLst/>
            <a:gdLst/>
            <a:ahLst/>
            <a:cxnLst/>
            <a:rect l="l" t="t" r="r" b="b"/>
            <a:pathLst>
              <a:path w="5467350" h="1828800">
                <a:moveTo>
                  <a:pt x="38100" y="0"/>
                </a:moveTo>
                <a:lnTo>
                  <a:pt x="5391144" y="0"/>
                </a:lnTo>
                <a:cubicBezTo>
                  <a:pt x="5433231" y="0"/>
                  <a:pt x="5467350" y="34119"/>
                  <a:pt x="5467350" y="76206"/>
                </a:cubicBezTo>
                <a:lnTo>
                  <a:pt x="5467350" y="1752594"/>
                </a:lnTo>
                <a:cubicBezTo>
                  <a:pt x="5467350" y="1794681"/>
                  <a:pt x="5433231" y="1828800"/>
                  <a:pt x="53911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343650" y="46482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2" name="Shape 60"/>
          <p:cNvSpPr/>
          <p:nvPr/>
        </p:nvSpPr>
        <p:spPr>
          <a:xfrm>
            <a:off x="6490097" y="4810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3" name="Text 61"/>
          <p:cNvSpPr/>
          <p:nvPr/>
        </p:nvSpPr>
        <p:spPr>
          <a:xfrm>
            <a:off x="6696075" y="47625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Actions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77000" y="5067295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571500"/>
                </a:lnTo>
                <a:cubicBezTo>
                  <a:pt x="2571750" y="592528"/>
                  <a:pt x="2554678" y="609600"/>
                  <a:pt x="2533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679531" y="51663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66" name="Text 64"/>
          <p:cNvSpPr/>
          <p:nvPr/>
        </p:nvSpPr>
        <p:spPr>
          <a:xfrm>
            <a:off x="6515100" y="537209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124950" y="5067295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571500"/>
                </a:lnTo>
                <a:cubicBezTo>
                  <a:pt x="2571750" y="592528"/>
                  <a:pt x="2554678" y="609600"/>
                  <a:pt x="2533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338197" y="5166359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2343" y="-8673"/>
                </a:moveTo>
                <a:cubicBezTo>
                  <a:pt x="77856" y="-11419"/>
                  <a:pt x="72197" y="-11419"/>
                  <a:pt x="67709" y="-8673"/>
                </a:cubicBezTo>
                <a:cubicBezTo>
                  <a:pt x="59539" y="-3683"/>
                  <a:pt x="54482" y="-2344"/>
                  <a:pt x="44905" y="-2545"/>
                </a:cubicBezTo>
                <a:cubicBezTo>
                  <a:pt x="39648" y="-2679"/>
                  <a:pt x="34759" y="167"/>
                  <a:pt x="32214" y="4789"/>
                </a:cubicBezTo>
                <a:cubicBezTo>
                  <a:pt x="27626" y="13194"/>
                  <a:pt x="23909" y="16911"/>
                  <a:pt x="15504" y="21498"/>
                </a:cubicBezTo>
                <a:cubicBezTo>
                  <a:pt x="10883" y="24010"/>
                  <a:pt x="8070" y="28932"/>
                  <a:pt x="8171" y="34190"/>
                </a:cubicBezTo>
                <a:cubicBezTo>
                  <a:pt x="8405" y="43767"/>
                  <a:pt x="7032" y="48823"/>
                  <a:pt x="2043" y="56994"/>
                </a:cubicBezTo>
                <a:cubicBezTo>
                  <a:pt x="-703" y="61481"/>
                  <a:pt x="-703" y="67140"/>
                  <a:pt x="2043" y="71627"/>
                </a:cubicBezTo>
                <a:cubicBezTo>
                  <a:pt x="7032" y="79798"/>
                  <a:pt x="8372" y="84854"/>
                  <a:pt x="8171" y="94431"/>
                </a:cubicBezTo>
                <a:cubicBezTo>
                  <a:pt x="8037" y="99689"/>
                  <a:pt x="10883" y="104578"/>
                  <a:pt x="15504" y="107123"/>
                </a:cubicBezTo>
                <a:cubicBezTo>
                  <a:pt x="22905" y="111175"/>
                  <a:pt x="26655" y="114523"/>
                  <a:pt x="30607" y="121020"/>
                </a:cubicBezTo>
                <a:lnTo>
                  <a:pt x="14299" y="153535"/>
                </a:lnTo>
                <a:cubicBezTo>
                  <a:pt x="12323" y="157520"/>
                  <a:pt x="13930" y="162342"/>
                  <a:pt x="17882" y="164317"/>
                </a:cubicBezTo>
                <a:lnTo>
                  <a:pt x="46680" y="178717"/>
                </a:lnTo>
                <a:cubicBezTo>
                  <a:pt x="50531" y="180625"/>
                  <a:pt x="55219" y="179185"/>
                  <a:pt x="57295" y="175435"/>
                </a:cubicBezTo>
                <a:lnTo>
                  <a:pt x="74976" y="143589"/>
                </a:lnTo>
                <a:lnTo>
                  <a:pt x="92657" y="175435"/>
                </a:lnTo>
                <a:cubicBezTo>
                  <a:pt x="94733" y="179185"/>
                  <a:pt x="99421" y="180659"/>
                  <a:pt x="103272" y="178717"/>
                </a:cubicBezTo>
                <a:lnTo>
                  <a:pt x="132070" y="164317"/>
                </a:lnTo>
                <a:cubicBezTo>
                  <a:pt x="136055" y="162342"/>
                  <a:pt x="137662" y="157520"/>
                  <a:pt x="135653" y="153535"/>
                </a:cubicBezTo>
                <a:lnTo>
                  <a:pt x="119379" y="120986"/>
                </a:lnTo>
                <a:cubicBezTo>
                  <a:pt x="123297" y="114490"/>
                  <a:pt x="127081" y="111141"/>
                  <a:pt x="134481" y="107089"/>
                </a:cubicBezTo>
                <a:cubicBezTo>
                  <a:pt x="139102" y="104578"/>
                  <a:pt x="141915" y="99655"/>
                  <a:pt x="141815" y="94398"/>
                </a:cubicBezTo>
                <a:cubicBezTo>
                  <a:pt x="141580" y="84821"/>
                  <a:pt x="142953" y="79764"/>
                  <a:pt x="147943" y="71594"/>
                </a:cubicBezTo>
                <a:cubicBezTo>
                  <a:pt x="150688" y="67107"/>
                  <a:pt x="150688" y="61447"/>
                  <a:pt x="147943" y="56960"/>
                </a:cubicBezTo>
                <a:cubicBezTo>
                  <a:pt x="142953" y="48790"/>
                  <a:pt x="141614" y="43733"/>
                  <a:pt x="141815" y="34156"/>
                </a:cubicBezTo>
                <a:cubicBezTo>
                  <a:pt x="141949" y="28899"/>
                  <a:pt x="139102" y="24010"/>
                  <a:pt x="134481" y="21465"/>
                </a:cubicBezTo>
                <a:cubicBezTo>
                  <a:pt x="126076" y="16877"/>
                  <a:pt x="122359" y="13160"/>
                  <a:pt x="117771" y="4755"/>
                </a:cubicBezTo>
                <a:cubicBezTo>
                  <a:pt x="115260" y="134"/>
                  <a:pt x="110337" y="-2679"/>
                  <a:pt x="105080" y="-2578"/>
                </a:cubicBezTo>
                <a:cubicBezTo>
                  <a:pt x="95503" y="-2344"/>
                  <a:pt x="90447" y="-3717"/>
                  <a:pt x="82276" y="-8706"/>
                </a:cubicBezTo>
                <a:close/>
                <a:moveTo>
                  <a:pt x="75009" y="32147"/>
                </a:moveTo>
                <a:cubicBezTo>
                  <a:pt x="92752" y="32147"/>
                  <a:pt x="107156" y="46551"/>
                  <a:pt x="107156" y="64294"/>
                </a:cubicBezTo>
                <a:cubicBezTo>
                  <a:pt x="107156" y="82036"/>
                  <a:pt x="92752" y="96441"/>
                  <a:pt x="75009" y="96441"/>
                </a:cubicBezTo>
                <a:cubicBezTo>
                  <a:pt x="57267" y="96441"/>
                  <a:pt x="42863" y="82036"/>
                  <a:pt x="42863" y="64294"/>
                </a:cubicBezTo>
                <a:cubicBezTo>
                  <a:pt x="42863" y="46551"/>
                  <a:pt x="57267" y="32147"/>
                  <a:pt x="75009" y="32147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9163050" y="537209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Pay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77000" y="5753095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571500"/>
                </a:lnTo>
                <a:cubicBezTo>
                  <a:pt x="2571750" y="592528"/>
                  <a:pt x="2554678" y="609600"/>
                  <a:pt x="2533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679531" y="58521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50899"/>
                </a:moveTo>
                <a:cubicBezTo>
                  <a:pt x="101989" y="50899"/>
                  <a:pt x="115193" y="37695"/>
                  <a:pt x="115193" y="21431"/>
                </a:cubicBezTo>
                <a:cubicBezTo>
                  <a:pt x="115193" y="5167"/>
                  <a:pt x="101989" y="-8037"/>
                  <a:pt x="85725" y="-8037"/>
                </a:cubicBezTo>
                <a:cubicBezTo>
                  <a:pt x="69461" y="-8037"/>
                  <a:pt x="56257" y="5167"/>
                  <a:pt x="56257" y="21431"/>
                </a:cubicBezTo>
                <a:cubicBezTo>
                  <a:pt x="56257" y="37695"/>
                  <a:pt x="69461" y="50899"/>
                  <a:pt x="85725" y="50899"/>
                </a:cubicBezTo>
                <a:close/>
                <a:moveTo>
                  <a:pt x="85725" y="150923"/>
                </a:moveTo>
                <a:lnTo>
                  <a:pt x="85725" y="100928"/>
                </a:lnTo>
                <a:cubicBezTo>
                  <a:pt x="91183" y="98651"/>
                  <a:pt x="96742" y="96340"/>
                  <a:pt x="102368" y="93996"/>
                </a:cubicBezTo>
                <a:cubicBezTo>
                  <a:pt x="115427" y="88571"/>
                  <a:pt x="129425" y="85758"/>
                  <a:pt x="143589" y="85758"/>
                </a:cubicBezTo>
                <a:lnTo>
                  <a:pt x="150019" y="85758"/>
                </a:lnTo>
                <a:lnTo>
                  <a:pt x="150019" y="139337"/>
                </a:lnTo>
                <a:lnTo>
                  <a:pt x="143589" y="139337"/>
                </a:lnTo>
                <a:cubicBezTo>
                  <a:pt x="123799" y="139337"/>
                  <a:pt x="104176" y="143255"/>
                  <a:pt x="85892" y="150889"/>
                </a:cubicBezTo>
                <a:lnTo>
                  <a:pt x="85725" y="150956"/>
                </a:lnTo>
                <a:close/>
                <a:moveTo>
                  <a:pt x="85725" y="77688"/>
                </a:moveTo>
                <a:lnTo>
                  <a:pt x="77320" y="74172"/>
                </a:lnTo>
                <a:cubicBezTo>
                  <a:pt x="61648" y="67642"/>
                  <a:pt x="44838" y="64294"/>
                  <a:pt x="27861" y="64294"/>
                </a:cubicBezTo>
                <a:lnTo>
                  <a:pt x="16073" y="64294"/>
                </a:lnTo>
                <a:cubicBezTo>
                  <a:pt x="7200" y="64294"/>
                  <a:pt x="0" y="71493"/>
                  <a:pt x="0" y="80367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27861" y="160734"/>
                </a:lnTo>
                <a:cubicBezTo>
                  <a:pt x="44838" y="160734"/>
                  <a:pt x="61648" y="164083"/>
                  <a:pt x="77320" y="170613"/>
                </a:cubicBezTo>
                <a:lnTo>
                  <a:pt x="81606" y="172388"/>
                </a:lnTo>
                <a:cubicBezTo>
                  <a:pt x="84252" y="173493"/>
                  <a:pt x="87198" y="173493"/>
                  <a:pt x="89844" y="172388"/>
                </a:cubicBezTo>
                <a:lnTo>
                  <a:pt x="94130" y="170613"/>
                </a:lnTo>
                <a:cubicBezTo>
                  <a:pt x="109802" y="164083"/>
                  <a:pt x="126612" y="160734"/>
                  <a:pt x="143589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80367"/>
                </a:lnTo>
                <a:cubicBezTo>
                  <a:pt x="171450" y="71493"/>
                  <a:pt x="164250" y="64294"/>
                  <a:pt x="155377" y="64294"/>
                </a:cubicBezTo>
                <a:lnTo>
                  <a:pt x="143589" y="64294"/>
                </a:lnTo>
                <a:cubicBezTo>
                  <a:pt x="126612" y="64294"/>
                  <a:pt x="109802" y="67642"/>
                  <a:pt x="94130" y="74172"/>
                </a:cubicBezTo>
                <a:lnTo>
                  <a:pt x="85725" y="77688"/>
                </a:ln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72" name="Text 70"/>
          <p:cNvSpPr/>
          <p:nvPr/>
        </p:nvSpPr>
        <p:spPr>
          <a:xfrm>
            <a:off x="6515100" y="605789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Support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124950" y="5753095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571500"/>
                </a:lnTo>
                <a:cubicBezTo>
                  <a:pt x="2571750" y="592528"/>
                  <a:pt x="2554678" y="609600"/>
                  <a:pt x="25336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348913" y="585215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75" name="Text 73"/>
          <p:cNvSpPr/>
          <p:nvPr/>
        </p:nvSpPr>
        <p:spPr>
          <a:xfrm>
            <a:off x="9163050" y="605789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Focus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5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a4fd2a0bc37ed97136c6be64ffceea63d3d948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153" r="1153" t="0" b="0"/>
          <a:stretch/>
        </p:blipFill>
        <p:spPr>
          <a:xfrm>
            <a:off x="0" y="0"/>
            <a:ext cx="12192000" cy="701738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017380"/>
          </a:xfrm>
          <a:custGeom>
            <a:avLst/>
            <a:gdLst/>
            <a:ahLst/>
            <a:cxnLst/>
            <a:rect l="l" t="t" r="r" b="b"/>
            <a:pathLst>
              <a:path w="12192000" h="7017380">
                <a:moveTo>
                  <a:pt x="0" y="0"/>
                </a:moveTo>
                <a:lnTo>
                  <a:pt x="12192000" y="0"/>
                </a:lnTo>
                <a:lnTo>
                  <a:pt x="12192000" y="7017380"/>
                </a:lnTo>
                <a:lnTo>
                  <a:pt x="0" y="701738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506B">
                  <a:alpha val="95000"/>
                </a:srgbClr>
              </a:gs>
              <a:gs pos="100000">
                <a:srgbClr val="3A506B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2275" y="372275"/>
            <a:ext cx="11531212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spc="66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CAPABILITIES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2275" y="707322"/>
            <a:ext cx="11670815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8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and Skills Demonstrated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5998" y="1381140"/>
            <a:ext cx="5628795" cy="1906047"/>
          </a:xfrm>
          <a:custGeom>
            <a:avLst/>
            <a:gdLst/>
            <a:ahLst/>
            <a:cxnLst/>
            <a:rect l="l" t="t" r="r" b="b"/>
            <a:pathLst>
              <a:path w="5628795" h="1906047">
                <a:moveTo>
                  <a:pt x="74450" y="0"/>
                </a:moveTo>
                <a:lnTo>
                  <a:pt x="5554345" y="0"/>
                </a:lnTo>
                <a:cubicBezTo>
                  <a:pt x="5595463" y="0"/>
                  <a:pt x="5628795" y="33332"/>
                  <a:pt x="5628795" y="74450"/>
                </a:cubicBezTo>
                <a:lnTo>
                  <a:pt x="5628795" y="1831597"/>
                </a:lnTo>
                <a:cubicBezTo>
                  <a:pt x="5628795" y="1872715"/>
                  <a:pt x="5595463" y="1906047"/>
                  <a:pt x="5554345" y="1906047"/>
                </a:cubicBezTo>
                <a:lnTo>
                  <a:pt x="74450" y="1906047"/>
                </a:lnTo>
                <a:cubicBezTo>
                  <a:pt x="33332" y="1906047"/>
                  <a:pt x="0" y="1872715"/>
                  <a:pt x="0" y="1831597"/>
                </a:cubicBezTo>
                <a:lnTo>
                  <a:pt x="0" y="74450"/>
                </a:lnTo>
                <a:cubicBezTo>
                  <a:pt x="0" y="33332"/>
                  <a:pt x="33332" y="0"/>
                  <a:pt x="744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7739" y="1589621"/>
            <a:ext cx="195444" cy="223365"/>
          </a:xfrm>
          <a:custGeom>
            <a:avLst/>
            <a:gdLst/>
            <a:ahLst/>
            <a:cxnLst/>
            <a:rect l="l" t="t" r="r" b="b"/>
            <a:pathLst>
              <a:path w="195444" h="223365">
                <a:moveTo>
                  <a:pt x="191867" y="87470"/>
                </a:moveTo>
                <a:cubicBezTo>
                  <a:pt x="188508" y="73990"/>
                  <a:pt x="182138" y="63825"/>
                  <a:pt x="168571" y="63825"/>
                </a:cubicBezTo>
                <a:lnTo>
                  <a:pt x="151077" y="63825"/>
                </a:lnTo>
                <a:lnTo>
                  <a:pt x="151077" y="84503"/>
                </a:lnTo>
                <a:cubicBezTo>
                  <a:pt x="151077" y="100558"/>
                  <a:pt x="137465" y="114082"/>
                  <a:pt x="121935" y="114082"/>
                </a:cubicBezTo>
                <a:lnTo>
                  <a:pt x="75342" y="114082"/>
                </a:lnTo>
                <a:cubicBezTo>
                  <a:pt x="62603" y="114082"/>
                  <a:pt x="52046" y="124988"/>
                  <a:pt x="52046" y="137771"/>
                </a:cubicBezTo>
                <a:lnTo>
                  <a:pt x="52046" y="182182"/>
                </a:lnTo>
                <a:cubicBezTo>
                  <a:pt x="52046" y="194834"/>
                  <a:pt x="63040" y="202250"/>
                  <a:pt x="75342" y="205871"/>
                </a:cubicBezTo>
                <a:cubicBezTo>
                  <a:pt x="90088" y="210190"/>
                  <a:pt x="104266" y="210975"/>
                  <a:pt x="121935" y="205871"/>
                </a:cubicBezTo>
                <a:cubicBezTo>
                  <a:pt x="133670" y="202468"/>
                  <a:pt x="145231" y="195619"/>
                  <a:pt x="145231" y="182182"/>
                </a:cubicBezTo>
                <a:lnTo>
                  <a:pt x="145231" y="164426"/>
                </a:lnTo>
                <a:lnTo>
                  <a:pt x="98682" y="164426"/>
                </a:lnTo>
                <a:lnTo>
                  <a:pt x="98682" y="158493"/>
                </a:lnTo>
                <a:lnTo>
                  <a:pt x="168571" y="158493"/>
                </a:lnTo>
                <a:cubicBezTo>
                  <a:pt x="182138" y="158493"/>
                  <a:pt x="187155" y="149026"/>
                  <a:pt x="191867" y="134848"/>
                </a:cubicBezTo>
                <a:cubicBezTo>
                  <a:pt x="196753" y="120233"/>
                  <a:pt x="196535" y="106186"/>
                  <a:pt x="191867" y="87470"/>
                </a:cubicBezTo>
                <a:close/>
                <a:moveTo>
                  <a:pt x="124857" y="194005"/>
                </a:moveTo>
                <a:cubicBezTo>
                  <a:pt x="121537" y="194238"/>
                  <a:pt x="118364" y="192598"/>
                  <a:pt x="116633" y="189755"/>
                </a:cubicBezTo>
                <a:cubicBezTo>
                  <a:pt x="114902" y="186912"/>
                  <a:pt x="114902" y="183341"/>
                  <a:pt x="116633" y="180498"/>
                </a:cubicBezTo>
                <a:cubicBezTo>
                  <a:pt x="118364" y="177655"/>
                  <a:pt x="121537" y="176016"/>
                  <a:pt x="124857" y="176249"/>
                </a:cubicBezTo>
                <a:cubicBezTo>
                  <a:pt x="128178" y="176016"/>
                  <a:pt x="131351" y="177655"/>
                  <a:pt x="133082" y="180498"/>
                </a:cubicBezTo>
                <a:cubicBezTo>
                  <a:pt x="134813" y="183341"/>
                  <a:pt x="134813" y="186912"/>
                  <a:pt x="133082" y="189755"/>
                </a:cubicBezTo>
                <a:cubicBezTo>
                  <a:pt x="131351" y="192598"/>
                  <a:pt x="128178" y="194238"/>
                  <a:pt x="124857" y="194005"/>
                </a:cubicBezTo>
                <a:close/>
                <a:moveTo>
                  <a:pt x="73204" y="108236"/>
                </a:moveTo>
                <a:lnTo>
                  <a:pt x="119797" y="108236"/>
                </a:lnTo>
                <a:cubicBezTo>
                  <a:pt x="132754" y="108236"/>
                  <a:pt x="143093" y="97548"/>
                  <a:pt x="143093" y="84547"/>
                </a:cubicBezTo>
                <a:lnTo>
                  <a:pt x="143093" y="40092"/>
                </a:lnTo>
                <a:cubicBezTo>
                  <a:pt x="143093" y="27441"/>
                  <a:pt x="132448" y="17974"/>
                  <a:pt x="119797" y="15836"/>
                </a:cubicBezTo>
                <a:cubicBezTo>
                  <a:pt x="104179" y="13262"/>
                  <a:pt x="87208" y="13393"/>
                  <a:pt x="73204" y="15880"/>
                </a:cubicBezTo>
                <a:cubicBezTo>
                  <a:pt x="53485" y="19370"/>
                  <a:pt x="49908" y="26655"/>
                  <a:pt x="49908" y="40136"/>
                </a:cubicBezTo>
                <a:lnTo>
                  <a:pt x="49908" y="57892"/>
                </a:lnTo>
                <a:lnTo>
                  <a:pt x="96544" y="57892"/>
                </a:lnTo>
                <a:lnTo>
                  <a:pt x="96544" y="63825"/>
                </a:lnTo>
                <a:lnTo>
                  <a:pt x="32414" y="63825"/>
                </a:lnTo>
                <a:cubicBezTo>
                  <a:pt x="18846" y="63825"/>
                  <a:pt x="6980" y="71983"/>
                  <a:pt x="3272" y="87470"/>
                </a:cubicBezTo>
                <a:cubicBezTo>
                  <a:pt x="-1003" y="105226"/>
                  <a:pt x="-1178" y="116307"/>
                  <a:pt x="3272" y="134848"/>
                </a:cubicBezTo>
                <a:cubicBezTo>
                  <a:pt x="6588" y="148634"/>
                  <a:pt x="14484" y="158493"/>
                  <a:pt x="28051" y="158493"/>
                </a:cubicBezTo>
                <a:lnTo>
                  <a:pt x="44062" y="158493"/>
                </a:lnTo>
                <a:lnTo>
                  <a:pt x="44062" y="137204"/>
                </a:lnTo>
                <a:cubicBezTo>
                  <a:pt x="44062" y="121804"/>
                  <a:pt x="57368" y="108236"/>
                  <a:pt x="73204" y="108236"/>
                </a:cubicBezTo>
                <a:close/>
                <a:moveTo>
                  <a:pt x="70325" y="28226"/>
                </a:moveTo>
                <a:cubicBezTo>
                  <a:pt x="75237" y="28226"/>
                  <a:pt x="79225" y="32214"/>
                  <a:pt x="79225" y="37126"/>
                </a:cubicBezTo>
                <a:cubicBezTo>
                  <a:pt x="79225" y="42038"/>
                  <a:pt x="75237" y="46025"/>
                  <a:pt x="70325" y="46025"/>
                </a:cubicBezTo>
                <a:cubicBezTo>
                  <a:pt x="65413" y="46025"/>
                  <a:pt x="61425" y="42038"/>
                  <a:pt x="61425" y="37126"/>
                </a:cubicBezTo>
                <a:cubicBezTo>
                  <a:pt x="61425" y="32214"/>
                  <a:pt x="65413" y="28226"/>
                  <a:pt x="70325" y="2822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845064" y="1571007"/>
            <a:ext cx="506293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Programming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3778" y="2017737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863678" y="1980509"/>
            <a:ext cx="178691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Data Generation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3778" y="2315557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863678" y="2278329"/>
            <a:ext cx="206612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Faker Library for Realistic Data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3778" y="2613376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78" y="2576149"/>
            <a:ext cx="2242956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 for Numerical Computing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3778" y="2911196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863678" y="2873969"/>
            <a:ext cx="2000977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 for Data Manipulation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3722" y="1381140"/>
            <a:ext cx="5628795" cy="1906047"/>
          </a:xfrm>
          <a:custGeom>
            <a:avLst/>
            <a:gdLst/>
            <a:ahLst/>
            <a:cxnLst/>
            <a:rect l="l" t="t" r="r" b="b"/>
            <a:pathLst>
              <a:path w="5628795" h="1906047">
                <a:moveTo>
                  <a:pt x="74450" y="0"/>
                </a:moveTo>
                <a:lnTo>
                  <a:pt x="5554345" y="0"/>
                </a:lnTo>
                <a:cubicBezTo>
                  <a:pt x="5595463" y="0"/>
                  <a:pt x="5628795" y="33332"/>
                  <a:pt x="5628795" y="74450"/>
                </a:cubicBezTo>
                <a:lnTo>
                  <a:pt x="5628795" y="1831597"/>
                </a:lnTo>
                <a:cubicBezTo>
                  <a:pt x="5628795" y="1872715"/>
                  <a:pt x="5595463" y="1906047"/>
                  <a:pt x="5554345" y="1906047"/>
                </a:cubicBezTo>
                <a:lnTo>
                  <a:pt x="74450" y="1906047"/>
                </a:lnTo>
                <a:cubicBezTo>
                  <a:pt x="33332" y="1906047"/>
                  <a:pt x="0" y="1872715"/>
                  <a:pt x="0" y="1831597"/>
                </a:cubicBezTo>
                <a:lnTo>
                  <a:pt x="0" y="74450"/>
                </a:lnTo>
                <a:cubicBezTo>
                  <a:pt x="0" y="33332"/>
                  <a:pt x="33332" y="0"/>
                  <a:pt x="744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11503" y="1589621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3960" y="13960"/>
                </a:moveTo>
                <a:cubicBezTo>
                  <a:pt x="21682" y="13960"/>
                  <a:pt x="27921" y="20199"/>
                  <a:pt x="27921" y="27921"/>
                </a:cubicBezTo>
                <a:lnTo>
                  <a:pt x="27921" y="174504"/>
                </a:lnTo>
                <a:cubicBezTo>
                  <a:pt x="27921" y="178343"/>
                  <a:pt x="31062" y="181484"/>
                  <a:pt x="34901" y="181484"/>
                </a:cubicBezTo>
                <a:lnTo>
                  <a:pt x="209405" y="181484"/>
                </a:lnTo>
                <a:cubicBezTo>
                  <a:pt x="217126" y="181484"/>
                  <a:pt x="223365" y="187722"/>
                  <a:pt x="223365" y="195444"/>
                </a:cubicBezTo>
                <a:cubicBezTo>
                  <a:pt x="223365" y="203166"/>
                  <a:pt x="217126" y="209405"/>
                  <a:pt x="209405" y="209405"/>
                </a:cubicBezTo>
                <a:lnTo>
                  <a:pt x="34901" y="209405"/>
                </a:lnTo>
                <a:cubicBezTo>
                  <a:pt x="15618" y="209405"/>
                  <a:pt x="0" y="193786"/>
                  <a:pt x="0" y="174504"/>
                </a:cubicBezTo>
                <a:lnTo>
                  <a:pt x="0" y="27921"/>
                </a:lnTo>
                <a:cubicBezTo>
                  <a:pt x="0" y="20199"/>
                  <a:pt x="6239" y="13960"/>
                  <a:pt x="13960" y="13960"/>
                </a:cubicBezTo>
                <a:close/>
                <a:moveTo>
                  <a:pt x="55841" y="41881"/>
                </a:moveTo>
                <a:cubicBezTo>
                  <a:pt x="55841" y="34159"/>
                  <a:pt x="62080" y="27921"/>
                  <a:pt x="69802" y="27921"/>
                </a:cubicBezTo>
                <a:lnTo>
                  <a:pt x="153563" y="27921"/>
                </a:lnTo>
                <a:cubicBezTo>
                  <a:pt x="161285" y="27921"/>
                  <a:pt x="167524" y="34159"/>
                  <a:pt x="167524" y="41881"/>
                </a:cubicBezTo>
                <a:cubicBezTo>
                  <a:pt x="167524" y="49603"/>
                  <a:pt x="161285" y="55841"/>
                  <a:pt x="153563" y="55841"/>
                </a:cubicBezTo>
                <a:lnTo>
                  <a:pt x="69802" y="55841"/>
                </a:lnTo>
                <a:cubicBezTo>
                  <a:pt x="62080" y="55841"/>
                  <a:pt x="55841" y="49603"/>
                  <a:pt x="55841" y="41881"/>
                </a:cubicBezTo>
                <a:close/>
                <a:moveTo>
                  <a:pt x="69802" y="76782"/>
                </a:moveTo>
                <a:lnTo>
                  <a:pt x="125643" y="76782"/>
                </a:lnTo>
                <a:cubicBezTo>
                  <a:pt x="133365" y="76782"/>
                  <a:pt x="139603" y="83020"/>
                  <a:pt x="139603" y="90742"/>
                </a:cubicBezTo>
                <a:cubicBezTo>
                  <a:pt x="139603" y="98464"/>
                  <a:pt x="133365" y="104702"/>
                  <a:pt x="125643" y="104702"/>
                </a:cubicBezTo>
                <a:lnTo>
                  <a:pt x="69802" y="104702"/>
                </a:lnTo>
                <a:cubicBezTo>
                  <a:pt x="62080" y="104702"/>
                  <a:pt x="55841" y="98464"/>
                  <a:pt x="55841" y="90742"/>
                </a:cubicBezTo>
                <a:cubicBezTo>
                  <a:pt x="55841" y="83020"/>
                  <a:pt x="62080" y="76782"/>
                  <a:pt x="69802" y="76782"/>
                </a:cubicBezTo>
                <a:close/>
                <a:moveTo>
                  <a:pt x="69802" y="125643"/>
                </a:moveTo>
                <a:lnTo>
                  <a:pt x="181484" y="125643"/>
                </a:lnTo>
                <a:cubicBezTo>
                  <a:pt x="189206" y="125643"/>
                  <a:pt x="195444" y="131881"/>
                  <a:pt x="195444" y="139603"/>
                </a:cubicBezTo>
                <a:cubicBezTo>
                  <a:pt x="195444" y="147325"/>
                  <a:pt x="189206" y="153563"/>
                  <a:pt x="181484" y="153563"/>
                </a:cubicBezTo>
                <a:lnTo>
                  <a:pt x="69802" y="153563"/>
                </a:lnTo>
                <a:cubicBezTo>
                  <a:pt x="62080" y="153563"/>
                  <a:pt x="55841" y="147325"/>
                  <a:pt x="55841" y="139603"/>
                </a:cubicBezTo>
                <a:cubicBezTo>
                  <a:pt x="55841" y="131881"/>
                  <a:pt x="62080" y="125643"/>
                  <a:pt x="69802" y="12564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6662789" y="1571007"/>
            <a:ext cx="506293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Tableau Visualization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11503" y="2017737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6681402" y="1980509"/>
            <a:ext cx="193582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Dashboard Development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11503" y="2315557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6681402" y="2278329"/>
            <a:ext cx="213127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Filters &amp; Parameters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11503" y="2613376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6681402" y="2576149"/>
            <a:ext cx="187068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Calculated Fields &amp; Metrics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11503" y="2911196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126457" y="20388"/>
                </a:moveTo>
                <a:cubicBezTo>
                  <a:pt x="130616" y="23413"/>
                  <a:pt x="131547" y="29229"/>
                  <a:pt x="128522" y="33388"/>
                </a:cubicBezTo>
                <a:lnTo>
                  <a:pt x="54067" y="135764"/>
                </a:lnTo>
                <a:cubicBezTo>
                  <a:pt x="52467" y="137974"/>
                  <a:pt x="49995" y="139341"/>
                  <a:pt x="47261" y="139574"/>
                </a:cubicBezTo>
                <a:cubicBezTo>
                  <a:pt x="44528" y="139807"/>
                  <a:pt x="41881" y="138789"/>
                  <a:pt x="39961" y="136869"/>
                </a:cubicBezTo>
                <a:lnTo>
                  <a:pt x="2734" y="99642"/>
                </a:lnTo>
                <a:cubicBezTo>
                  <a:pt x="-902" y="96006"/>
                  <a:pt x="-902" y="90102"/>
                  <a:pt x="2734" y="86467"/>
                </a:cubicBezTo>
                <a:cubicBezTo>
                  <a:pt x="6369" y="82831"/>
                  <a:pt x="12273" y="82831"/>
                  <a:pt x="15909" y="86467"/>
                </a:cubicBezTo>
                <a:lnTo>
                  <a:pt x="45429" y="115987"/>
                </a:lnTo>
                <a:lnTo>
                  <a:pt x="113486" y="22424"/>
                </a:lnTo>
                <a:cubicBezTo>
                  <a:pt x="116510" y="18265"/>
                  <a:pt x="122327" y="17334"/>
                  <a:pt x="126486" y="20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6681402" y="2873969"/>
            <a:ext cx="1796226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Storytelling &amp; Design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75998" y="3480775"/>
            <a:ext cx="3683659" cy="1329021"/>
          </a:xfrm>
          <a:custGeom>
            <a:avLst/>
            <a:gdLst/>
            <a:ahLst/>
            <a:cxnLst/>
            <a:rect l="l" t="t" r="r" b="b"/>
            <a:pathLst>
              <a:path w="3683659" h="1329021">
                <a:moveTo>
                  <a:pt x="74452" y="0"/>
                </a:moveTo>
                <a:lnTo>
                  <a:pt x="3609207" y="0"/>
                </a:lnTo>
                <a:cubicBezTo>
                  <a:pt x="3650326" y="0"/>
                  <a:pt x="3683659" y="33333"/>
                  <a:pt x="3683659" y="74452"/>
                </a:cubicBezTo>
                <a:lnTo>
                  <a:pt x="3683659" y="1254569"/>
                </a:lnTo>
                <a:cubicBezTo>
                  <a:pt x="3683659" y="1295688"/>
                  <a:pt x="3650326" y="1329021"/>
                  <a:pt x="3609207" y="1329021"/>
                </a:cubicBezTo>
                <a:lnTo>
                  <a:pt x="74452" y="1329021"/>
                </a:lnTo>
                <a:cubicBezTo>
                  <a:pt x="33333" y="1329021"/>
                  <a:pt x="0" y="1295688"/>
                  <a:pt x="0" y="1254569"/>
                </a:cubicBezTo>
                <a:lnTo>
                  <a:pt x="0" y="74452"/>
                </a:lnTo>
                <a:cubicBezTo>
                  <a:pt x="0" y="33361"/>
                  <a:pt x="33361" y="0"/>
                  <a:pt x="744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46232" y="3670633"/>
            <a:ext cx="349008" cy="279206"/>
          </a:xfrm>
          <a:custGeom>
            <a:avLst/>
            <a:gdLst/>
            <a:ahLst/>
            <a:cxnLst/>
            <a:rect l="l" t="t" r="r" b="b"/>
            <a:pathLst>
              <a:path w="349008" h="279206">
                <a:moveTo>
                  <a:pt x="174504" y="8725"/>
                </a:moveTo>
                <a:cubicBezTo>
                  <a:pt x="205805" y="8725"/>
                  <a:pt x="231218" y="34138"/>
                  <a:pt x="231218" y="65439"/>
                </a:cubicBezTo>
                <a:cubicBezTo>
                  <a:pt x="231218" y="96740"/>
                  <a:pt x="205805" y="122153"/>
                  <a:pt x="174504" y="122153"/>
                </a:cubicBezTo>
                <a:cubicBezTo>
                  <a:pt x="143203" y="122153"/>
                  <a:pt x="117790" y="96740"/>
                  <a:pt x="117790" y="65439"/>
                </a:cubicBezTo>
                <a:cubicBezTo>
                  <a:pt x="117790" y="34138"/>
                  <a:pt x="143203" y="8725"/>
                  <a:pt x="174504" y="8725"/>
                </a:cubicBezTo>
                <a:close/>
                <a:moveTo>
                  <a:pt x="52351" y="47989"/>
                </a:moveTo>
                <a:cubicBezTo>
                  <a:pt x="74021" y="47989"/>
                  <a:pt x="91615" y="65582"/>
                  <a:pt x="91615" y="87252"/>
                </a:cubicBezTo>
                <a:cubicBezTo>
                  <a:pt x="91615" y="108922"/>
                  <a:pt x="74021" y="126515"/>
                  <a:pt x="52351" y="126515"/>
                </a:cubicBezTo>
                <a:cubicBezTo>
                  <a:pt x="30681" y="126515"/>
                  <a:pt x="13088" y="108922"/>
                  <a:pt x="13088" y="87252"/>
                </a:cubicBezTo>
                <a:cubicBezTo>
                  <a:pt x="13088" y="65582"/>
                  <a:pt x="30681" y="47989"/>
                  <a:pt x="52351" y="47989"/>
                </a:cubicBezTo>
                <a:close/>
                <a:moveTo>
                  <a:pt x="0" y="226855"/>
                </a:moveTo>
                <a:cubicBezTo>
                  <a:pt x="0" y="188301"/>
                  <a:pt x="31247" y="157053"/>
                  <a:pt x="69802" y="157053"/>
                </a:cubicBezTo>
                <a:cubicBezTo>
                  <a:pt x="76782" y="157053"/>
                  <a:pt x="83544" y="158090"/>
                  <a:pt x="89924" y="159998"/>
                </a:cubicBezTo>
                <a:cubicBezTo>
                  <a:pt x="71983" y="180066"/>
                  <a:pt x="61076" y="206569"/>
                  <a:pt x="61076" y="235580"/>
                </a:cubicBezTo>
                <a:lnTo>
                  <a:pt x="61076" y="244305"/>
                </a:lnTo>
                <a:cubicBezTo>
                  <a:pt x="61076" y="250522"/>
                  <a:pt x="62385" y="256412"/>
                  <a:pt x="64730" y="261756"/>
                </a:cubicBezTo>
                <a:lnTo>
                  <a:pt x="17450" y="261756"/>
                </a:lnTo>
                <a:cubicBezTo>
                  <a:pt x="7798" y="261756"/>
                  <a:pt x="0" y="253958"/>
                  <a:pt x="0" y="244305"/>
                </a:cubicBezTo>
                <a:lnTo>
                  <a:pt x="0" y="226855"/>
                </a:lnTo>
                <a:close/>
                <a:moveTo>
                  <a:pt x="284278" y="261756"/>
                </a:moveTo>
                <a:cubicBezTo>
                  <a:pt x="286623" y="256412"/>
                  <a:pt x="287931" y="250522"/>
                  <a:pt x="287931" y="244305"/>
                </a:cubicBezTo>
                <a:lnTo>
                  <a:pt x="287931" y="235580"/>
                </a:lnTo>
                <a:cubicBezTo>
                  <a:pt x="287931" y="206569"/>
                  <a:pt x="277025" y="180066"/>
                  <a:pt x="259084" y="159998"/>
                </a:cubicBezTo>
                <a:cubicBezTo>
                  <a:pt x="265464" y="158090"/>
                  <a:pt x="272226" y="157053"/>
                  <a:pt x="279206" y="157053"/>
                </a:cubicBezTo>
                <a:cubicBezTo>
                  <a:pt x="317761" y="157053"/>
                  <a:pt x="349008" y="188301"/>
                  <a:pt x="349008" y="226855"/>
                </a:cubicBezTo>
                <a:lnTo>
                  <a:pt x="349008" y="244305"/>
                </a:lnTo>
                <a:cubicBezTo>
                  <a:pt x="349008" y="253958"/>
                  <a:pt x="341209" y="261756"/>
                  <a:pt x="331557" y="261756"/>
                </a:cubicBezTo>
                <a:lnTo>
                  <a:pt x="284278" y="261756"/>
                </a:lnTo>
                <a:close/>
                <a:moveTo>
                  <a:pt x="257393" y="87252"/>
                </a:moveTo>
                <a:cubicBezTo>
                  <a:pt x="257393" y="65582"/>
                  <a:pt x="274986" y="47989"/>
                  <a:pt x="296656" y="47989"/>
                </a:cubicBezTo>
                <a:cubicBezTo>
                  <a:pt x="318327" y="47989"/>
                  <a:pt x="335920" y="65582"/>
                  <a:pt x="335920" y="87252"/>
                </a:cubicBezTo>
                <a:cubicBezTo>
                  <a:pt x="335920" y="108922"/>
                  <a:pt x="318327" y="126515"/>
                  <a:pt x="296656" y="126515"/>
                </a:cubicBezTo>
                <a:cubicBezTo>
                  <a:pt x="274986" y="126515"/>
                  <a:pt x="257393" y="108922"/>
                  <a:pt x="257393" y="87252"/>
                </a:cubicBezTo>
                <a:close/>
                <a:moveTo>
                  <a:pt x="87252" y="235580"/>
                </a:moveTo>
                <a:cubicBezTo>
                  <a:pt x="87252" y="187373"/>
                  <a:pt x="126297" y="148328"/>
                  <a:pt x="174504" y="148328"/>
                </a:cubicBezTo>
                <a:cubicBezTo>
                  <a:pt x="222710" y="148328"/>
                  <a:pt x="261756" y="187373"/>
                  <a:pt x="261756" y="235580"/>
                </a:cubicBezTo>
                <a:lnTo>
                  <a:pt x="261756" y="244305"/>
                </a:lnTo>
                <a:cubicBezTo>
                  <a:pt x="261756" y="253958"/>
                  <a:pt x="253958" y="261756"/>
                  <a:pt x="244305" y="261756"/>
                </a:cubicBezTo>
                <a:lnTo>
                  <a:pt x="104702" y="261756"/>
                </a:lnTo>
                <a:cubicBezTo>
                  <a:pt x="95050" y="261756"/>
                  <a:pt x="87252" y="253958"/>
                  <a:pt x="87252" y="244305"/>
                </a:cubicBezTo>
                <a:lnTo>
                  <a:pt x="87252" y="23558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523977" y="4061522"/>
            <a:ext cx="338770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Analytics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28630" y="4396569"/>
            <a:ext cx="33783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Workforce Analytics &amp; HR Metrics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254520" y="3480775"/>
            <a:ext cx="3683659" cy="1329021"/>
          </a:xfrm>
          <a:custGeom>
            <a:avLst/>
            <a:gdLst/>
            <a:ahLst/>
            <a:cxnLst/>
            <a:rect l="l" t="t" r="r" b="b"/>
            <a:pathLst>
              <a:path w="3683659" h="1329021">
                <a:moveTo>
                  <a:pt x="74452" y="0"/>
                </a:moveTo>
                <a:lnTo>
                  <a:pt x="3609207" y="0"/>
                </a:lnTo>
                <a:cubicBezTo>
                  <a:pt x="3650326" y="0"/>
                  <a:pt x="3683659" y="33333"/>
                  <a:pt x="3683659" y="74452"/>
                </a:cubicBezTo>
                <a:lnTo>
                  <a:pt x="3683659" y="1254569"/>
                </a:lnTo>
                <a:cubicBezTo>
                  <a:pt x="3683659" y="1295688"/>
                  <a:pt x="3650326" y="1329021"/>
                  <a:pt x="3609207" y="1329021"/>
                </a:cubicBezTo>
                <a:lnTo>
                  <a:pt x="74452" y="1329021"/>
                </a:lnTo>
                <a:cubicBezTo>
                  <a:pt x="33333" y="1329021"/>
                  <a:pt x="0" y="1295688"/>
                  <a:pt x="0" y="1254569"/>
                </a:cubicBezTo>
                <a:lnTo>
                  <a:pt x="0" y="74452"/>
                </a:lnTo>
                <a:cubicBezTo>
                  <a:pt x="0" y="33361"/>
                  <a:pt x="33361" y="0"/>
                  <a:pt x="744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59655" y="3670633"/>
            <a:ext cx="279206" cy="279206"/>
          </a:xfrm>
          <a:custGeom>
            <a:avLst/>
            <a:gdLst/>
            <a:ahLst/>
            <a:cxnLst/>
            <a:rect l="l" t="t" r="r" b="b"/>
            <a:pathLst>
              <a:path w="279206" h="279206">
                <a:moveTo>
                  <a:pt x="0" y="43626"/>
                </a:moveTo>
                <a:cubicBezTo>
                  <a:pt x="0" y="29175"/>
                  <a:pt x="11724" y="17450"/>
                  <a:pt x="26176" y="17450"/>
                </a:cubicBezTo>
                <a:lnTo>
                  <a:pt x="78527" y="17450"/>
                </a:lnTo>
                <a:cubicBezTo>
                  <a:pt x="92978" y="17450"/>
                  <a:pt x="104702" y="29175"/>
                  <a:pt x="104702" y="43626"/>
                </a:cubicBezTo>
                <a:lnTo>
                  <a:pt x="104702" y="52351"/>
                </a:lnTo>
                <a:lnTo>
                  <a:pt x="174504" y="52351"/>
                </a:lnTo>
                <a:lnTo>
                  <a:pt x="174504" y="43626"/>
                </a:lnTo>
                <a:cubicBezTo>
                  <a:pt x="174504" y="29175"/>
                  <a:pt x="186228" y="17450"/>
                  <a:pt x="200679" y="17450"/>
                </a:cubicBezTo>
                <a:lnTo>
                  <a:pt x="253031" y="17450"/>
                </a:lnTo>
                <a:cubicBezTo>
                  <a:pt x="267482" y="17450"/>
                  <a:pt x="279206" y="29175"/>
                  <a:pt x="279206" y="43626"/>
                </a:cubicBezTo>
                <a:lnTo>
                  <a:pt x="279206" y="95977"/>
                </a:lnTo>
                <a:cubicBezTo>
                  <a:pt x="279206" y="110428"/>
                  <a:pt x="267482" y="122153"/>
                  <a:pt x="253031" y="122153"/>
                </a:cubicBezTo>
                <a:lnTo>
                  <a:pt x="200679" y="122153"/>
                </a:lnTo>
                <a:cubicBezTo>
                  <a:pt x="186228" y="122153"/>
                  <a:pt x="174504" y="110428"/>
                  <a:pt x="174504" y="95977"/>
                </a:cubicBezTo>
                <a:lnTo>
                  <a:pt x="174504" y="87252"/>
                </a:lnTo>
                <a:lnTo>
                  <a:pt x="104702" y="87252"/>
                </a:lnTo>
                <a:lnTo>
                  <a:pt x="104702" y="95977"/>
                </a:lnTo>
                <a:cubicBezTo>
                  <a:pt x="104702" y="99958"/>
                  <a:pt x="103775" y="103775"/>
                  <a:pt x="102194" y="107156"/>
                </a:cubicBezTo>
                <a:lnTo>
                  <a:pt x="139603" y="157053"/>
                </a:lnTo>
                <a:lnTo>
                  <a:pt x="183229" y="157053"/>
                </a:lnTo>
                <a:cubicBezTo>
                  <a:pt x="197680" y="157053"/>
                  <a:pt x="209405" y="168778"/>
                  <a:pt x="209405" y="183229"/>
                </a:cubicBezTo>
                <a:lnTo>
                  <a:pt x="209405" y="235580"/>
                </a:lnTo>
                <a:cubicBezTo>
                  <a:pt x="209405" y="250031"/>
                  <a:pt x="197680" y="261756"/>
                  <a:pt x="183229" y="261756"/>
                </a:cubicBezTo>
                <a:lnTo>
                  <a:pt x="130878" y="261756"/>
                </a:lnTo>
                <a:cubicBezTo>
                  <a:pt x="116427" y="261756"/>
                  <a:pt x="104702" y="250031"/>
                  <a:pt x="104702" y="235580"/>
                </a:cubicBezTo>
                <a:lnTo>
                  <a:pt x="104702" y="183229"/>
                </a:lnTo>
                <a:cubicBezTo>
                  <a:pt x="104702" y="179248"/>
                  <a:pt x="105629" y="175431"/>
                  <a:pt x="107211" y="172050"/>
                </a:cubicBezTo>
                <a:lnTo>
                  <a:pt x="69802" y="122153"/>
                </a:lnTo>
                <a:lnTo>
                  <a:pt x="26176" y="122153"/>
                </a:lnTo>
                <a:cubicBezTo>
                  <a:pt x="11724" y="122153"/>
                  <a:pt x="0" y="110428"/>
                  <a:pt x="0" y="95977"/>
                </a:cubicBezTo>
                <a:lnTo>
                  <a:pt x="0" y="4362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4402499" y="4061522"/>
            <a:ext cx="338770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407152" y="4396569"/>
            <a:ext cx="33783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 &amp; Architecture Design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33042" y="3480775"/>
            <a:ext cx="3683659" cy="1329021"/>
          </a:xfrm>
          <a:custGeom>
            <a:avLst/>
            <a:gdLst/>
            <a:ahLst/>
            <a:cxnLst/>
            <a:rect l="l" t="t" r="r" b="b"/>
            <a:pathLst>
              <a:path w="3683659" h="1329021">
                <a:moveTo>
                  <a:pt x="74452" y="0"/>
                </a:moveTo>
                <a:lnTo>
                  <a:pt x="3609207" y="0"/>
                </a:lnTo>
                <a:cubicBezTo>
                  <a:pt x="3650326" y="0"/>
                  <a:pt x="3683659" y="33333"/>
                  <a:pt x="3683659" y="74452"/>
                </a:cubicBezTo>
                <a:lnTo>
                  <a:pt x="3683659" y="1254569"/>
                </a:lnTo>
                <a:cubicBezTo>
                  <a:pt x="3683659" y="1295688"/>
                  <a:pt x="3650326" y="1329021"/>
                  <a:pt x="3609207" y="1329021"/>
                </a:cubicBezTo>
                <a:lnTo>
                  <a:pt x="74452" y="1329021"/>
                </a:lnTo>
                <a:cubicBezTo>
                  <a:pt x="33333" y="1329021"/>
                  <a:pt x="0" y="1295688"/>
                  <a:pt x="0" y="1254569"/>
                </a:cubicBezTo>
                <a:lnTo>
                  <a:pt x="0" y="74452"/>
                </a:lnTo>
                <a:cubicBezTo>
                  <a:pt x="0" y="33361"/>
                  <a:pt x="33361" y="0"/>
                  <a:pt x="744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73077" y="3670633"/>
            <a:ext cx="209405" cy="279206"/>
          </a:xfrm>
          <a:custGeom>
            <a:avLst/>
            <a:gdLst/>
            <a:ahLst/>
            <a:cxnLst/>
            <a:rect l="l" t="t" r="r" b="b"/>
            <a:pathLst>
              <a:path w="209405" h="279206">
                <a:moveTo>
                  <a:pt x="159726" y="209405"/>
                </a:moveTo>
                <a:cubicBezTo>
                  <a:pt x="163706" y="197244"/>
                  <a:pt x="171668" y="186228"/>
                  <a:pt x="180666" y="176740"/>
                </a:cubicBezTo>
                <a:cubicBezTo>
                  <a:pt x="198498" y="157980"/>
                  <a:pt x="209405" y="132623"/>
                  <a:pt x="209405" y="104702"/>
                </a:cubicBezTo>
                <a:cubicBezTo>
                  <a:pt x="209405" y="46898"/>
                  <a:pt x="162507" y="0"/>
                  <a:pt x="104702" y="0"/>
                </a:cubicBezTo>
                <a:cubicBezTo>
                  <a:pt x="46898" y="0"/>
                  <a:pt x="0" y="46898"/>
                  <a:pt x="0" y="104702"/>
                </a:cubicBezTo>
                <a:cubicBezTo>
                  <a:pt x="0" y="132623"/>
                  <a:pt x="10906" y="157980"/>
                  <a:pt x="28739" y="176740"/>
                </a:cubicBezTo>
                <a:cubicBezTo>
                  <a:pt x="37736" y="186228"/>
                  <a:pt x="45753" y="197244"/>
                  <a:pt x="49679" y="209405"/>
                </a:cubicBezTo>
                <a:lnTo>
                  <a:pt x="159671" y="209405"/>
                </a:lnTo>
                <a:close/>
                <a:moveTo>
                  <a:pt x="157053" y="235580"/>
                </a:moveTo>
                <a:lnTo>
                  <a:pt x="52351" y="235580"/>
                </a:lnTo>
                <a:lnTo>
                  <a:pt x="52351" y="244305"/>
                </a:lnTo>
                <a:cubicBezTo>
                  <a:pt x="52351" y="268409"/>
                  <a:pt x="71874" y="287931"/>
                  <a:pt x="95977" y="287931"/>
                </a:cubicBezTo>
                <a:lnTo>
                  <a:pt x="113427" y="287931"/>
                </a:lnTo>
                <a:cubicBezTo>
                  <a:pt x="137531" y="287931"/>
                  <a:pt x="157053" y="268409"/>
                  <a:pt x="157053" y="244305"/>
                </a:cubicBezTo>
                <a:lnTo>
                  <a:pt x="157053" y="235580"/>
                </a:lnTo>
                <a:close/>
                <a:moveTo>
                  <a:pt x="100340" y="61076"/>
                </a:moveTo>
                <a:cubicBezTo>
                  <a:pt x="78636" y="61076"/>
                  <a:pt x="61076" y="78636"/>
                  <a:pt x="61076" y="100340"/>
                </a:cubicBezTo>
                <a:cubicBezTo>
                  <a:pt x="61076" y="107593"/>
                  <a:pt x="55241" y="113427"/>
                  <a:pt x="47989" y="113427"/>
                </a:cubicBezTo>
                <a:cubicBezTo>
                  <a:pt x="40736" y="113427"/>
                  <a:pt x="34901" y="107593"/>
                  <a:pt x="34901" y="100340"/>
                </a:cubicBezTo>
                <a:cubicBezTo>
                  <a:pt x="34901" y="64185"/>
                  <a:pt x="64185" y="34901"/>
                  <a:pt x="100340" y="34901"/>
                </a:cubicBezTo>
                <a:cubicBezTo>
                  <a:pt x="107593" y="34901"/>
                  <a:pt x="113427" y="40736"/>
                  <a:pt x="113427" y="47989"/>
                </a:cubicBezTo>
                <a:cubicBezTo>
                  <a:pt x="113427" y="55241"/>
                  <a:pt x="107593" y="61076"/>
                  <a:pt x="100340" y="6107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8281021" y="4061522"/>
            <a:ext cx="338770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9" b="1" dirty="0">
                <a:solidFill>
                  <a:srgbClr val="FD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85674" y="4396569"/>
            <a:ext cx="33783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dirty="0">
                <a:solidFill>
                  <a:srgbClr val="FDFDF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 &amp; Storytelling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72275" y="4999653"/>
            <a:ext cx="11447450" cy="1451872"/>
          </a:xfrm>
          <a:custGeom>
            <a:avLst/>
            <a:gdLst/>
            <a:ahLst/>
            <a:cxnLst/>
            <a:rect l="l" t="t" r="r" b="b"/>
            <a:pathLst>
              <a:path w="11447450" h="1451872">
                <a:moveTo>
                  <a:pt x="74452" y="0"/>
                </a:moveTo>
                <a:lnTo>
                  <a:pt x="11372998" y="0"/>
                </a:lnTo>
                <a:cubicBezTo>
                  <a:pt x="11414117" y="0"/>
                  <a:pt x="11447450" y="33333"/>
                  <a:pt x="11447450" y="74452"/>
                </a:cubicBezTo>
                <a:lnTo>
                  <a:pt x="11447450" y="1377420"/>
                </a:lnTo>
                <a:cubicBezTo>
                  <a:pt x="11447450" y="1418538"/>
                  <a:pt x="11414117" y="1451872"/>
                  <a:pt x="11372998" y="1451872"/>
                </a:cubicBezTo>
                <a:lnTo>
                  <a:pt x="74452" y="1451872"/>
                </a:lnTo>
                <a:cubicBezTo>
                  <a:pt x="33333" y="1451872"/>
                  <a:pt x="0" y="1418538"/>
                  <a:pt x="0" y="1377420"/>
                </a:cubicBezTo>
                <a:lnTo>
                  <a:pt x="0" y="74452"/>
                </a:lnTo>
                <a:cubicBezTo>
                  <a:pt x="0" y="33333"/>
                  <a:pt x="33333" y="0"/>
                  <a:pt x="74452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1" name="Shape 38"/>
          <p:cNvSpPr/>
          <p:nvPr/>
        </p:nvSpPr>
        <p:spPr>
          <a:xfrm>
            <a:off x="558412" y="5223017"/>
            <a:ext cx="232672" cy="186137"/>
          </a:xfrm>
          <a:custGeom>
            <a:avLst/>
            <a:gdLst/>
            <a:ahLst/>
            <a:cxnLst/>
            <a:rect l="l" t="t" r="r" b="b"/>
            <a:pathLst>
              <a:path w="232672" h="186137">
                <a:moveTo>
                  <a:pt x="203697" y="86234"/>
                </a:moveTo>
                <a:cubicBezTo>
                  <a:pt x="207478" y="90524"/>
                  <a:pt x="213985" y="91469"/>
                  <a:pt x="218893" y="88233"/>
                </a:cubicBezTo>
                <a:cubicBezTo>
                  <a:pt x="224237" y="84671"/>
                  <a:pt x="225692" y="77436"/>
                  <a:pt x="222129" y="72092"/>
                </a:cubicBezTo>
                <a:lnTo>
                  <a:pt x="204678" y="45916"/>
                </a:lnTo>
                <a:cubicBezTo>
                  <a:pt x="203660" y="44389"/>
                  <a:pt x="202279" y="43117"/>
                  <a:pt x="200643" y="42208"/>
                </a:cubicBezTo>
                <a:lnTo>
                  <a:pt x="127751" y="1709"/>
                </a:lnTo>
                <a:cubicBezTo>
                  <a:pt x="120735" y="-2181"/>
                  <a:pt x="112191" y="-2181"/>
                  <a:pt x="105139" y="1709"/>
                </a:cubicBezTo>
                <a:lnTo>
                  <a:pt x="32283" y="42172"/>
                </a:lnTo>
                <a:cubicBezTo>
                  <a:pt x="30320" y="43262"/>
                  <a:pt x="28757" y="44862"/>
                  <a:pt x="27702" y="46825"/>
                </a:cubicBezTo>
                <a:lnTo>
                  <a:pt x="10070" y="79508"/>
                </a:lnTo>
                <a:cubicBezTo>
                  <a:pt x="5490" y="88015"/>
                  <a:pt x="8689" y="98595"/>
                  <a:pt x="17196" y="103175"/>
                </a:cubicBezTo>
                <a:lnTo>
                  <a:pt x="29193" y="109610"/>
                </a:lnTo>
                <a:lnTo>
                  <a:pt x="29193" y="128987"/>
                </a:lnTo>
                <a:cubicBezTo>
                  <a:pt x="29193" y="137349"/>
                  <a:pt x="33701" y="145093"/>
                  <a:pt x="40972" y="149237"/>
                </a:cubicBezTo>
                <a:lnTo>
                  <a:pt x="104957" y="185483"/>
                </a:lnTo>
                <a:cubicBezTo>
                  <a:pt x="112082" y="189518"/>
                  <a:pt x="120771" y="189518"/>
                  <a:pt x="127897" y="185483"/>
                </a:cubicBezTo>
                <a:lnTo>
                  <a:pt x="191881" y="149237"/>
                </a:lnTo>
                <a:cubicBezTo>
                  <a:pt x="199189" y="145093"/>
                  <a:pt x="203660" y="137385"/>
                  <a:pt x="203660" y="128987"/>
                </a:cubicBezTo>
                <a:lnTo>
                  <a:pt x="203660" y="86270"/>
                </a:lnTo>
                <a:close/>
                <a:moveTo>
                  <a:pt x="116445" y="82671"/>
                </a:moveTo>
                <a:lnTo>
                  <a:pt x="61876" y="52351"/>
                </a:lnTo>
                <a:lnTo>
                  <a:pt x="116445" y="22031"/>
                </a:lnTo>
                <a:lnTo>
                  <a:pt x="171014" y="52351"/>
                </a:lnTo>
                <a:lnTo>
                  <a:pt x="116445" y="82671"/>
                </a:lnTo>
                <a:close/>
                <a:moveTo>
                  <a:pt x="101358" y="100921"/>
                </a:moveTo>
                <a:lnTo>
                  <a:pt x="93614" y="117717"/>
                </a:lnTo>
                <a:lnTo>
                  <a:pt x="33337" y="85434"/>
                </a:lnTo>
                <a:lnTo>
                  <a:pt x="42572" y="68275"/>
                </a:lnTo>
                <a:lnTo>
                  <a:pt x="101358" y="1009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791084" y="5185790"/>
            <a:ext cx="1093557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480839" y="5558065"/>
            <a:ext cx="251285" cy="223365"/>
          </a:xfrm>
          <a:custGeom>
            <a:avLst/>
            <a:gdLst/>
            <a:ahLst/>
            <a:cxnLst/>
            <a:rect l="l" t="t" r="r" b="b"/>
            <a:pathLst>
              <a:path w="251285" h="223365">
                <a:moveTo>
                  <a:pt x="41881" y="0"/>
                </a:moveTo>
                <a:cubicBezTo>
                  <a:pt x="26481" y="0"/>
                  <a:pt x="13960" y="12521"/>
                  <a:pt x="13960" y="27921"/>
                </a:cubicBezTo>
                <a:lnTo>
                  <a:pt x="13960" y="195444"/>
                </a:lnTo>
                <a:cubicBezTo>
                  <a:pt x="13960" y="210844"/>
                  <a:pt x="26481" y="223365"/>
                  <a:pt x="41881" y="223365"/>
                </a:cubicBezTo>
                <a:lnTo>
                  <a:pt x="76782" y="223365"/>
                </a:lnTo>
                <a:lnTo>
                  <a:pt x="76782" y="174504"/>
                </a:lnTo>
                <a:cubicBezTo>
                  <a:pt x="76782" y="159104"/>
                  <a:pt x="89302" y="146583"/>
                  <a:pt x="104702" y="146583"/>
                </a:cubicBezTo>
                <a:lnTo>
                  <a:pt x="181484" y="146583"/>
                </a:lnTo>
                <a:lnTo>
                  <a:pt x="181484" y="74382"/>
                </a:lnTo>
                <a:cubicBezTo>
                  <a:pt x="181484" y="66966"/>
                  <a:pt x="178561" y="59855"/>
                  <a:pt x="173326" y="54620"/>
                </a:cubicBezTo>
                <a:lnTo>
                  <a:pt x="126821" y="8158"/>
                </a:lnTo>
                <a:cubicBezTo>
                  <a:pt x="121586" y="2923"/>
                  <a:pt x="114518" y="0"/>
                  <a:pt x="107102" y="0"/>
                </a:cubicBezTo>
                <a:lnTo>
                  <a:pt x="41881" y="0"/>
                </a:lnTo>
                <a:close/>
                <a:moveTo>
                  <a:pt x="155963" y="76782"/>
                </a:moveTo>
                <a:lnTo>
                  <a:pt x="115173" y="76782"/>
                </a:lnTo>
                <a:cubicBezTo>
                  <a:pt x="109370" y="76782"/>
                  <a:pt x="104702" y="72114"/>
                  <a:pt x="104702" y="66311"/>
                </a:cubicBezTo>
                <a:lnTo>
                  <a:pt x="104702" y="25521"/>
                </a:lnTo>
                <a:lnTo>
                  <a:pt x="155963" y="76782"/>
                </a:lnTo>
                <a:close/>
                <a:moveTo>
                  <a:pt x="115173" y="165779"/>
                </a:moveTo>
                <a:cubicBezTo>
                  <a:pt x="104571" y="165779"/>
                  <a:pt x="95977" y="174373"/>
                  <a:pt x="95977" y="184974"/>
                </a:cubicBezTo>
                <a:lnTo>
                  <a:pt x="95977" y="219875"/>
                </a:lnTo>
                <a:cubicBezTo>
                  <a:pt x="95977" y="230476"/>
                  <a:pt x="104571" y="239070"/>
                  <a:pt x="115173" y="239070"/>
                </a:cubicBezTo>
                <a:lnTo>
                  <a:pt x="122153" y="239070"/>
                </a:lnTo>
                <a:cubicBezTo>
                  <a:pt x="132754" y="239070"/>
                  <a:pt x="141348" y="230476"/>
                  <a:pt x="141348" y="219875"/>
                </a:cubicBezTo>
                <a:lnTo>
                  <a:pt x="141348" y="216385"/>
                </a:lnTo>
                <a:cubicBezTo>
                  <a:pt x="141348" y="211586"/>
                  <a:pt x="137422" y="207660"/>
                  <a:pt x="132623" y="207660"/>
                </a:cubicBezTo>
                <a:cubicBezTo>
                  <a:pt x="127824" y="207660"/>
                  <a:pt x="123898" y="211586"/>
                  <a:pt x="123898" y="216385"/>
                </a:cubicBezTo>
                <a:lnTo>
                  <a:pt x="123898" y="219875"/>
                </a:lnTo>
                <a:cubicBezTo>
                  <a:pt x="123898" y="220835"/>
                  <a:pt x="123112" y="221620"/>
                  <a:pt x="122153" y="221620"/>
                </a:cubicBezTo>
                <a:lnTo>
                  <a:pt x="115173" y="221620"/>
                </a:lnTo>
                <a:cubicBezTo>
                  <a:pt x="114213" y="221620"/>
                  <a:pt x="113427" y="220835"/>
                  <a:pt x="113427" y="219875"/>
                </a:cubicBezTo>
                <a:lnTo>
                  <a:pt x="113427" y="184974"/>
                </a:lnTo>
                <a:cubicBezTo>
                  <a:pt x="113427" y="184014"/>
                  <a:pt x="114213" y="183229"/>
                  <a:pt x="115173" y="183229"/>
                </a:cubicBezTo>
                <a:lnTo>
                  <a:pt x="122153" y="183229"/>
                </a:lnTo>
                <a:cubicBezTo>
                  <a:pt x="123112" y="183229"/>
                  <a:pt x="123898" y="184014"/>
                  <a:pt x="123898" y="184974"/>
                </a:cubicBezTo>
                <a:lnTo>
                  <a:pt x="123898" y="188464"/>
                </a:lnTo>
                <a:cubicBezTo>
                  <a:pt x="123898" y="193263"/>
                  <a:pt x="127824" y="197189"/>
                  <a:pt x="132623" y="197189"/>
                </a:cubicBezTo>
                <a:cubicBezTo>
                  <a:pt x="137422" y="197189"/>
                  <a:pt x="141348" y="193263"/>
                  <a:pt x="141348" y="188464"/>
                </a:cubicBezTo>
                <a:lnTo>
                  <a:pt x="141348" y="184974"/>
                </a:lnTo>
                <a:cubicBezTo>
                  <a:pt x="141348" y="174373"/>
                  <a:pt x="132754" y="165779"/>
                  <a:pt x="122153" y="165779"/>
                </a:cubicBezTo>
                <a:lnTo>
                  <a:pt x="115173" y="165779"/>
                </a:lnTo>
                <a:close/>
                <a:moveTo>
                  <a:pt x="174504" y="165779"/>
                </a:moveTo>
                <a:cubicBezTo>
                  <a:pt x="161983" y="165779"/>
                  <a:pt x="151818" y="175943"/>
                  <a:pt x="151818" y="188464"/>
                </a:cubicBezTo>
                <a:cubicBezTo>
                  <a:pt x="151818" y="200985"/>
                  <a:pt x="161983" y="211150"/>
                  <a:pt x="174504" y="211150"/>
                </a:cubicBezTo>
                <a:cubicBezTo>
                  <a:pt x="177383" y="211150"/>
                  <a:pt x="179739" y="213505"/>
                  <a:pt x="179739" y="216385"/>
                </a:cubicBezTo>
                <a:cubicBezTo>
                  <a:pt x="179739" y="219264"/>
                  <a:pt x="177383" y="221620"/>
                  <a:pt x="174504" y="221620"/>
                </a:cubicBezTo>
                <a:lnTo>
                  <a:pt x="160544" y="221620"/>
                </a:lnTo>
                <a:cubicBezTo>
                  <a:pt x="155745" y="221620"/>
                  <a:pt x="151818" y="225546"/>
                  <a:pt x="151818" y="230345"/>
                </a:cubicBezTo>
                <a:cubicBezTo>
                  <a:pt x="151818" y="235144"/>
                  <a:pt x="155745" y="239070"/>
                  <a:pt x="160544" y="239070"/>
                </a:cubicBezTo>
                <a:lnTo>
                  <a:pt x="174504" y="239070"/>
                </a:lnTo>
                <a:cubicBezTo>
                  <a:pt x="187024" y="239070"/>
                  <a:pt x="197189" y="228905"/>
                  <a:pt x="197189" y="216385"/>
                </a:cubicBezTo>
                <a:cubicBezTo>
                  <a:pt x="197189" y="203864"/>
                  <a:pt x="187024" y="193699"/>
                  <a:pt x="174504" y="193699"/>
                </a:cubicBezTo>
                <a:cubicBezTo>
                  <a:pt x="171625" y="193699"/>
                  <a:pt x="169269" y="191343"/>
                  <a:pt x="169269" y="188464"/>
                </a:cubicBezTo>
                <a:cubicBezTo>
                  <a:pt x="169269" y="185585"/>
                  <a:pt x="171625" y="183229"/>
                  <a:pt x="174504" y="183229"/>
                </a:cubicBezTo>
                <a:lnTo>
                  <a:pt x="184974" y="183229"/>
                </a:lnTo>
                <a:cubicBezTo>
                  <a:pt x="189773" y="183229"/>
                  <a:pt x="193699" y="179303"/>
                  <a:pt x="193699" y="174504"/>
                </a:cubicBezTo>
                <a:cubicBezTo>
                  <a:pt x="193699" y="169705"/>
                  <a:pt x="189773" y="165779"/>
                  <a:pt x="184974" y="165779"/>
                </a:cubicBezTo>
                <a:lnTo>
                  <a:pt x="174504" y="165779"/>
                </a:lnTo>
                <a:close/>
                <a:moveTo>
                  <a:pt x="216385" y="165779"/>
                </a:moveTo>
                <a:cubicBezTo>
                  <a:pt x="211586" y="165779"/>
                  <a:pt x="207660" y="169705"/>
                  <a:pt x="207660" y="174504"/>
                </a:cubicBezTo>
                <a:lnTo>
                  <a:pt x="207660" y="188290"/>
                </a:lnTo>
                <a:cubicBezTo>
                  <a:pt x="207660" y="203777"/>
                  <a:pt x="212240" y="218959"/>
                  <a:pt x="220835" y="231828"/>
                </a:cubicBezTo>
                <a:lnTo>
                  <a:pt x="223060" y="235188"/>
                </a:lnTo>
                <a:cubicBezTo>
                  <a:pt x="224674" y="237631"/>
                  <a:pt x="227422" y="239070"/>
                  <a:pt x="230301" y="239070"/>
                </a:cubicBezTo>
                <a:cubicBezTo>
                  <a:pt x="233181" y="239070"/>
                  <a:pt x="235929" y="237631"/>
                  <a:pt x="237543" y="235188"/>
                </a:cubicBezTo>
                <a:lnTo>
                  <a:pt x="239768" y="231828"/>
                </a:lnTo>
                <a:cubicBezTo>
                  <a:pt x="248363" y="218915"/>
                  <a:pt x="252943" y="203777"/>
                  <a:pt x="252943" y="188290"/>
                </a:cubicBezTo>
                <a:lnTo>
                  <a:pt x="252943" y="174504"/>
                </a:lnTo>
                <a:cubicBezTo>
                  <a:pt x="252943" y="169705"/>
                  <a:pt x="249017" y="165779"/>
                  <a:pt x="244218" y="165779"/>
                </a:cubicBezTo>
                <a:cubicBezTo>
                  <a:pt x="239419" y="165779"/>
                  <a:pt x="235493" y="169705"/>
                  <a:pt x="235493" y="174504"/>
                </a:cubicBezTo>
                <a:lnTo>
                  <a:pt x="235493" y="188290"/>
                </a:lnTo>
                <a:cubicBezTo>
                  <a:pt x="235493" y="196840"/>
                  <a:pt x="233704" y="205260"/>
                  <a:pt x="230258" y="213026"/>
                </a:cubicBezTo>
                <a:cubicBezTo>
                  <a:pt x="226811" y="205260"/>
                  <a:pt x="225023" y="196840"/>
                  <a:pt x="225023" y="188290"/>
                </a:cubicBezTo>
                <a:lnTo>
                  <a:pt x="225023" y="174504"/>
                </a:lnTo>
                <a:cubicBezTo>
                  <a:pt x="225023" y="169705"/>
                  <a:pt x="221096" y="165779"/>
                  <a:pt x="216297" y="1657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521185" y="5855885"/>
            <a:ext cx="216850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Dataset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25838" y="6079249"/>
            <a:ext cx="215919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CSV Format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726006" y="5558065"/>
            <a:ext cx="251285" cy="223365"/>
          </a:xfrm>
          <a:custGeom>
            <a:avLst/>
            <a:gdLst/>
            <a:ahLst/>
            <a:cxnLst/>
            <a:rect l="l" t="t" r="r" b="b"/>
            <a:pathLst>
              <a:path w="251285" h="223365">
                <a:moveTo>
                  <a:pt x="157402" y="524"/>
                </a:moveTo>
                <a:cubicBezTo>
                  <a:pt x="149986" y="-1614"/>
                  <a:pt x="142264" y="2705"/>
                  <a:pt x="140127" y="10121"/>
                </a:cubicBezTo>
                <a:lnTo>
                  <a:pt x="84285" y="205565"/>
                </a:lnTo>
                <a:cubicBezTo>
                  <a:pt x="82148" y="212982"/>
                  <a:pt x="86467" y="220704"/>
                  <a:pt x="93883" y="222841"/>
                </a:cubicBezTo>
                <a:cubicBezTo>
                  <a:pt x="101299" y="224979"/>
                  <a:pt x="109021" y="220660"/>
                  <a:pt x="111159" y="213244"/>
                </a:cubicBezTo>
                <a:lnTo>
                  <a:pt x="167000" y="17799"/>
                </a:lnTo>
                <a:cubicBezTo>
                  <a:pt x="169138" y="10383"/>
                  <a:pt x="164819" y="2661"/>
                  <a:pt x="157402" y="524"/>
                </a:cubicBezTo>
                <a:close/>
                <a:moveTo>
                  <a:pt x="185585" y="59898"/>
                </a:moveTo>
                <a:cubicBezTo>
                  <a:pt x="180132" y="65352"/>
                  <a:pt x="180132" y="74208"/>
                  <a:pt x="185585" y="79661"/>
                </a:cubicBezTo>
                <a:lnTo>
                  <a:pt x="217606" y="111682"/>
                </a:lnTo>
                <a:lnTo>
                  <a:pt x="185585" y="143704"/>
                </a:lnTo>
                <a:cubicBezTo>
                  <a:pt x="180132" y="149157"/>
                  <a:pt x="180132" y="158013"/>
                  <a:pt x="185585" y="163466"/>
                </a:cubicBezTo>
                <a:cubicBezTo>
                  <a:pt x="191038" y="168920"/>
                  <a:pt x="199894" y="168920"/>
                  <a:pt x="205347" y="163466"/>
                </a:cubicBezTo>
                <a:lnTo>
                  <a:pt x="247228" y="121586"/>
                </a:lnTo>
                <a:cubicBezTo>
                  <a:pt x="252682" y="116132"/>
                  <a:pt x="252682" y="107276"/>
                  <a:pt x="247228" y="101823"/>
                </a:cubicBezTo>
                <a:lnTo>
                  <a:pt x="205347" y="59942"/>
                </a:lnTo>
                <a:cubicBezTo>
                  <a:pt x="199894" y="54489"/>
                  <a:pt x="191038" y="54489"/>
                  <a:pt x="185585" y="59942"/>
                </a:cubicBezTo>
                <a:close/>
                <a:moveTo>
                  <a:pt x="65744" y="59898"/>
                </a:moveTo>
                <a:cubicBezTo>
                  <a:pt x="60291" y="54445"/>
                  <a:pt x="51435" y="54445"/>
                  <a:pt x="45982" y="59898"/>
                </a:cubicBezTo>
                <a:lnTo>
                  <a:pt x="4101" y="101779"/>
                </a:lnTo>
                <a:cubicBezTo>
                  <a:pt x="-1352" y="107233"/>
                  <a:pt x="-1352" y="116089"/>
                  <a:pt x="4101" y="121542"/>
                </a:cubicBezTo>
                <a:lnTo>
                  <a:pt x="45982" y="163423"/>
                </a:lnTo>
                <a:cubicBezTo>
                  <a:pt x="51435" y="168876"/>
                  <a:pt x="60291" y="168876"/>
                  <a:pt x="65744" y="163423"/>
                </a:cubicBezTo>
                <a:cubicBezTo>
                  <a:pt x="71198" y="157970"/>
                  <a:pt x="71198" y="149114"/>
                  <a:pt x="65744" y="143660"/>
                </a:cubicBezTo>
                <a:lnTo>
                  <a:pt x="33723" y="111682"/>
                </a:lnTo>
                <a:lnTo>
                  <a:pt x="65701" y="79661"/>
                </a:lnTo>
                <a:cubicBezTo>
                  <a:pt x="71154" y="74208"/>
                  <a:pt x="71154" y="65352"/>
                  <a:pt x="65701" y="598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2766351" y="5855885"/>
            <a:ext cx="216850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Script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771004" y="6079249"/>
            <a:ext cx="215919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 Code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971288" y="5558065"/>
            <a:ext cx="251285" cy="223365"/>
          </a:xfrm>
          <a:custGeom>
            <a:avLst/>
            <a:gdLst/>
            <a:ahLst/>
            <a:cxnLst/>
            <a:rect l="l" t="t" r="r" b="b"/>
            <a:pathLst>
              <a:path w="251285" h="223365">
                <a:moveTo>
                  <a:pt x="223539" y="104702"/>
                </a:moveTo>
                <a:lnTo>
                  <a:pt x="146758" y="104702"/>
                </a:lnTo>
                <a:cubicBezTo>
                  <a:pt x="139036" y="104702"/>
                  <a:pt x="132797" y="98464"/>
                  <a:pt x="132797" y="90742"/>
                </a:cubicBezTo>
                <a:lnTo>
                  <a:pt x="132797" y="13960"/>
                </a:lnTo>
                <a:cubicBezTo>
                  <a:pt x="132797" y="6239"/>
                  <a:pt x="139080" y="-87"/>
                  <a:pt x="146714" y="916"/>
                </a:cubicBezTo>
                <a:cubicBezTo>
                  <a:pt x="193394" y="7111"/>
                  <a:pt x="230389" y="44106"/>
                  <a:pt x="236584" y="90786"/>
                </a:cubicBezTo>
                <a:cubicBezTo>
                  <a:pt x="237587" y="98420"/>
                  <a:pt x="231261" y="104702"/>
                  <a:pt x="223539" y="104702"/>
                </a:cubicBezTo>
                <a:close/>
                <a:moveTo>
                  <a:pt x="97111" y="16229"/>
                </a:moveTo>
                <a:cubicBezTo>
                  <a:pt x="105008" y="14571"/>
                  <a:pt x="111857" y="21028"/>
                  <a:pt x="111857" y="29099"/>
                </a:cubicBezTo>
                <a:lnTo>
                  <a:pt x="111857" y="115173"/>
                </a:lnTo>
                <a:cubicBezTo>
                  <a:pt x="111857" y="117616"/>
                  <a:pt x="112729" y="119971"/>
                  <a:pt x="114256" y="121847"/>
                </a:cubicBezTo>
                <a:lnTo>
                  <a:pt x="171886" y="191387"/>
                </a:lnTo>
                <a:cubicBezTo>
                  <a:pt x="176990" y="197538"/>
                  <a:pt x="175900" y="206831"/>
                  <a:pt x="168876" y="210626"/>
                </a:cubicBezTo>
                <a:cubicBezTo>
                  <a:pt x="154000" y="218741"/>
                  <a:pt x="136942" y="223365"/>
                  <a:pt x="118837" y="223365"/>
                </a:cubicBezTo>
                <a:cubicBezTo>
                  <a:pt x="61033" y="223365"/>
                  <a:pt x="14135" y="176467"/>
                  <a:pt x="14135" y="118663"/>
                </a:cubicBezTo>
                <a:cubicBezTo>
                  <a:pt x="14135" y="68275"/>
                  <a:pt x="49690" y="26219"/>
                  <a:pt x="97111" y="16229"/>
                </a:cubicBezTo>
                <a:close/>
                <a:moveTo>
                  <a:pt x="208445" y="125643"/>
                </a:moveTo>
                <a:lnTo>
                  <a:pt x="236365" y="125643"/>
                </a:lnTo>
                <a:cubicBezTo>
                  <a:pt x="244436" y="125643"/>
                  <a:pt x="250893" y="132492"/>
                  <a:pt x="249235" y="140388"/>
                </a:cubicBezTo>
                <a:cubicBezTo>
                  <a:pt x="244785" y="161503"/>
                  <a:pt x="233966" y="180262"/>
                  <a:pt x="218871" y="194572"/>
                </a:cubicBezTo>
                <a:cubicBezTo>
                  <a:pt x="213505" y="199676"/>
                  <a:pt x="205086" y="198585"/>
                  <a:pt x="200374" y="192870"/>
                </a:cubicBezTo>
                <a:lnTo>
                  <a:pt x="163554" y="148503"/>
                </a:lnTo>
                <a:cubicBezTo>
                  <a:pt x="156006" y="139385"/>
                  <a:pt x="162507" y="125643"/>
                  <a:pt x="174286" y="125643"/>
                </a:cubicBezTo>
                <a:lnTo>
                  <a:pt x="208401" y="1256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5011517" y="5855885"/>
            <a:ext cx="216850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Tableau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016171" y="6079249"/>
            <a:ext cx="215919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216454" y="5558065"/>
            <a:ext cx="251285" cy="223365"/>
          </a:xfrm>
          <a:custGeom>
            <a:avLst/>
            <a:gdLst/>
            <a:ahLst/>
            <a:cxnLst/>
            <a:rect l="l" t="t" r="r" b="b"/>
            <a:pathLst>
              <a:path w="251285" h="223365">
                <a:moveTo>
                  <a:pt x="41881" y="0"/>
                </a:moveTo>
                <a:cubicBezTo>
                  <a:pt x="26481" y="0"/>
                  <a:pt x="13960" y="12521"/>
                  <a:pt x="13960" y="27921"/>
                </a:cubicBezTo>
                <a:lnTo>
                  <a:pt x="13960" y="195444"/>
                </a:lnTo>
                <a:cubicBezTo>
                  <a:pt x="13960" y="210844"/>
                  <a:pt x="26481" y="223365"/>
                  <a:pt x="41881" y="223365"/>
                </a:cubicBezTo>
                <a:lnTo>
                  <a:pt x="76782" y="223365"/>
                </a:lnTo>
                <a:lnTo>
                  <a:pt x="76782" y="174504"/>
                </a:lnTo>
                <a:cubicBezTo>
                  <a:pt x="76782" y="159104"/>
                  <a:pt x="89302" y="146583"/>
                  <a:pt x="104702" y="146583"/>
                </a:cubicBezTo>
                <a:lnTo>
                  <a:pt x="181484" y="146583"/>
                </a:lnTo>
                <a:lnTo>
                  <a:pt x="181484" y="74382"/>
                </a:lnTo>
                <a:cubicBezTo>
                  <a:pt x="181484" y="66966"/>
                  <a:pt x="178561" y="59855"/>
                  <a:pt x="173326" y="54620"/>
                </a:cubicBezTo>
                <a:lnTo>
                  <a:pt x="126821" y="8158"/>
                </a:lnTo>
                <a:cubicBezTo>
                  <a:pt x="121586" y="2923"/>
                  <a:pt x="114518" y="0"/>
                  <a:pt x="107102" y="0"/>
                </a:cubicBezTo>
                <a:lnTo>
                  <a:pt x="41881" y="0"/>
                </a:lnTo>
                <a:close/>
                <a:moveTo>
                  <a:pt x="155963" y="76782"/>
                </a:moveTo>
                <a:lnTo>
                  <a:pt x="115173" y="76782"/>
                </a:lnTo>
                <a:cubicBezTo>
                  <a:pt x="109370" y="76782"/>
                  <a:pt x="104702" y="72114"/>
                  <a:pt x="104702" y="66311"/>
                </a:cubicBezTo>
                <a:lnTo>
                  <a:pt x="104702" y="25521"/>
                </a:lnTo>
                <a:lnTo>
                  <a:pt x="155963" y="76782"/>
                </a:lnTo>
                <a:close/>
                <a:moveTo>
                  <a:pt x="104702" y="165779"/>
                </a:moveTo>
                <a:cubicBezTo>
                  <a:pt x="99903" y="165779"/>
                  <a:pt x="95977" y="169705"/>
                  <a:pt x="95977" y="174504"/>
                </a:cubicBezTo>
                <a:lnTo>
                  <a:pt x="95977" y="230345"/>
                </a:lnTo>
                <a:cubicBezTo>
                  <a:pt x="95977" y="235144"/>
                  <a:pt x="99903" y="239070"/>
                  <a:pt x="104702" y="239070"/>
                </a:cubicBezTo>
                <a:cubicBezTo>
                  <a:pt x="109501" y="239070"/>
                  <a:pt x="113427" y="235144"/>
                  <a:pt x="113427" y="230345"/>
                </a:cubicBezTo>
                <a:lnTo>
                  <a:pt x="113427" y="218130"/>
                </a:lnTo>
                <a:lnTo>
                  <a:pt x="118663" y="218130"/>
                </a:lnTo>
                <a:cubicBezTo>
                  <a:pt x="133103" y="218130"/>
                  <a:pt x="144838" y="206394"/>
                  <a:pt x="144838" y="191954"/>
                </a:cubicBezTo>
                <a:cubicBezTo>
                  <a:pt x="144838" y="177514"/>
                  <a:pt x="133103" y="165779"/>
                  <a:pt x="118663" y="165779"/>
                </a:cubicBezTo>
                <a:lnTo>
                  <a:pt x="104702" y="165779"/>
                </a:lnTo>
                <a:close/>
                <a:moveTo>
                  <a:pt x="118663" y="200679"/>
                </a:moveTo>
                <a:lnTo>
                  <a:pt x="113427" y="200679"/>
                </a:lnTo>
                <a:lnTo>
                  <a:pt x="113427" y="183229"/>
                </a:lnTo>
                <a:lnTo>
                  <a:pt x="118663" y="183229"/>
                </a:lnTo>
                <a:cubicBezTo>
                  <a:pt x="123461" y="183229"/>
                  <a:pt x="127388" y="187155"/>
                  <a:pt x="127388" y="191954"/>
                </a:cubicBezTo>
                <a:cubicBezTo>
                  <a:pt x="127388" y="196753"/>
                  <a:pt x="123461" y="200679"/>
                  <a:pt x="118663" y="200679"/>
                </a:cubicBezTo>
                <a:close/>
                <a:moveTo>
                  <a:pt x="160544" y="165779"/>
                </a:moveTo>
                <a:cubicBezTo>
                  <a:pt x="155745" y="165779"/>
                  <a:pt x="151818" y="169705"/>
                  <a:pt x="151818" y="174504"/>
                </a:cubicBezTo>
                <a:lnTo>
                  <a:pt x="151818" y="230345"/>
                </a:lnTo>
                <a:cubicBezTo>
                  <a:pt x="151818" y="235144"/>
                  <a:pt x="155745" y="239070"/>
                  <a:pt x="160544" y="239070"/>
                </a:cubicBezTo>
                <a:lnTo>
                  <a:pt x="174504" y="239070"/>
                </a:lnTo>
                <a:cubicBezTo>
                  <a:pt x="187024" y="239070"/>
                  <a:pt x="197189" y="228905"/>
                  <a:pt x="197189" y="216385"/>
                </a:cubicBezTo>
                <a:lnTo>
                  <a:pt x="197189" y="188464"/>
                </a:lnTo>
                <a:cubicBezTo>
                  <a:pt x="197189" y="175943"/>
                  <a:pt x="187024" y="165779"/>
                  <a:pt x="174504" y="165779"/>
                </a:cubicBezTo>
                <a:lnTo>
                  <a:pt x="160544" y="165779"/>
                </a:lnTo>
                <a:close/>
                <a:moveTo>
                  <a:pt x="169269" y="221620"/>
                </a:moveTo>
                <a:lnTo>
                  <a:pt x="169269" y="183229"/>
                </a:lnTo>
                <a:lnTo>
                  <a:pt x="174504" y="183229"/>
                </a:lnTo>
                <a:cubicBezTo>
                  <a:pt x="177383" y="183229"/>
                  <a:pt x="179739" y="185585"/>
                  <a:pt x="179739" y="188464"/>
                </a:cubicBezTo>
                <a:lnTo>
                  <a:pt x="179739" y="216385"/>
                </a:lnTo>
                <a:cubicBezTo>
                  <a:pt x="179739" y="219264"/>
                  <a:pt x="177383" y="221620"/>
                  <a:pt x="174504" y="221620"/>
                </a:cubicBezTo>
                <a:lnTo>
                  <a:pt x="169269" y="221620"/>
                </a:lnTo>
                <a:close/>
                <a:moveTo>
                  <a:pt x="207660" y="174504"/>
                </a:moveTo>
                <a:lnTo>
                  <a:pt x="207660" y="230345"/>
                </a:lnTo>
                <a:cubicBezTo>
                  <a:pt x="207660" y="235144"/>
                  <a:pt x="211586" y="239070"/>
                  <a:pt x="216385" y="239070"/>
                </a:cubicBezTo>
                <a:cubicBezTo>
                  <a:pt x="221184" y="239070"/>
                  <a:pt x="225110" y="235144"/>
                  <a:pt x="225110" y="230345"/>
                </a:cubicBezTo>
                <a:lnTo>
                  <a:pt x="225110" y="211150"/>
                </a:lnTo>
                <a:lnTo>
                  <a:pt x="237325" y="211150"/>
                </a:lnTo>
                <a:cubicBezTo>
                  <a:pt x="242124" y="211150"/>
                  <a:pt x="246050" y="207223"/>
                  <a:pt x="246050" y="202424"/>
                </a:cubicBezTo>
                <a:cubicBezTo>
                  <a:pt x="246050" y="197626"/>
                  <a:pt x="242124" y="193699"/>
                  <a:pt x="237325" y="193699"/>
                </a:cubicBezTo>
                <a:lnTo>
                  <a:pt x="225110" y="193699"/>
                </a:lnTo>
                <a:lnTo>
                  <a:pt x="225110" y="183229"/>
                </a:lnTo>
                <a:lnTo>
                  <a:pt x="237325" y="183229"/>
                </a:lnTo>
                <a:cubicBezTo>
                  <a:pt x="242124" y="183229"/>
                  <a:pt x="246050" y="179303"/>
                  <a:pt x="246050" y="174504"/>
                </a:cubicBezTo>
                <a:cubicBezTo>
                  <a:pt x="246050" y="169705"/>
                  <a:pt x="242124" y="165779"/>
                  <a:pt x="237325" y="165779"/>
                </a:cubicBezTo>
                <a:lnTo>
                  <a:pt x="216385" y="165779"/>
                </a:lnTo>
                <a:cubicBezTo>
                  <a:pt x="211586" y="165779"/>
                  <a:pt x="207660" y="169705"/>
                  <a:pt x="207660" y="1745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7256800" y="5855885"/>
            <a:ext cx="216850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261453" y="6079249"/>
            <a:ext cx="215919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PDF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0489657" y="5558065"/>
            <a:ext cx="195444" cy="223365"/>
          </a:xfrm>
          <a:custGeom>
            <a:avLst/>
            <a:gdLst/>
            <a:ahLst/>
            <a:cxnLst/>
            <a:rect l="l" t="t" r="r" b="b"/>
            <a:pathLst>
              <a:path w="195444" h="223365">
                <a:moveTo>
                  <a:pt x="167524" y="223365"/>
                </a:moveTo>
                <a:lnTo>
                  <a:pt x="41881" y="223365"/>
                </a:lnTo>
                <a:cubicBezTo>
                  <a:pt x="18759" y="223365"/>
                  <a:pt x="0" y="204606"/>
                  <a:pt x="0" y="181484"/>
                </a:cubicBezTo>
                <a:lnTo>
                  <a:pt x="0" y="41881"/>
                </a:lnTo>
                <a:cubicBezTo>
                  <a:pt x="0" y="18759"/>
                  <a:pt x="18759" y="0"/>
                  <a:pt x="41881" y="0"/>
                </a:cubicBezTo>
                <a:lnTo>
                  <a:pt x="174504" y="0"/>
                </a:lnTo>
                <a:cubicBezTo>
                  <a:pt x="186065" y="0"/>
                  <a:pt x="195444" y="9380"/>
                  <a:pt x="195444" y="20940"/>
                </a:cubicBezTo>
                <a:lnTo>
                  <a:pt x="195444" y="146583"/>
                </a:lnTo>
                <a:cubicBezTo>
                  <a:pt x="195444" y="155701"/>
                  <a:pt x="189598" y="163466"/>
                  <a:pt x="181484" y="166346"/>
                </a:cubicBezTo>
                <a:lnTo>
                  <a:pt x="181484" y="195444"/>
                </a:lnTo>
                <a:cubicBezTo>
                  <a:pt x="189206" y="195444"/>
                  <a:pt x="195444" y="201683"/>
                  <a:pt x="195444" y="209405"/>
                </a:cubicBezTo>
                <a:cubicBezTo>
                  <a:pt x="195444" y="217126"/>
                  <a:pt x="189206" y="223365"/>
                  <a:pt x="181484" y="223365"/>
                </a:cubicBezTo>
                <a:lnTo>
                  <a:pt x="167524" y="223365"/>
                </a:lnTo>
                <a:close/>
                <a:moveTo>
                  <a:pt x="41881" y="167524"/>
                </a:moveTo>
                <a:cubicBezTo>
                  <a:pt x="34159" y="167524"/>
                  <a:pt x="27921" y="173762"/>
                  <a:pt x="27921" y="181484"/>
                </a:cubicBezTo>
                <a:cubicBezTo>
                  <a:pt x="27921" y="189206"/>
                  <a:pt x="34159" y="195444"/>
                  <a:pt x="41881" y="195444"/>
                </a:cubicBezTo>
                <a:lnTo>
                  <a:pt x="153563" y="195444"/>
                </a:lnTo>
                <a:lnTo>
                  <a:pt x="153563" y="167524"/>
                </a:lnTo>
                <a:lnTo>
                  <a:pt x="41881" y="167524"/>
                </a:lnTo>
                <a:close/>
                <a:moveTo>
                  <a:pt x="55841" y="66311"/>
                </a:moveTo>
                <a:cubicBezTo>
                  <a:pt x="55841" y="72114"/>
                  <a:pt x="60509" y="76782"/>
                  <a:pt x="66311" y="76782"/>
                </a:cubicBezTo>
                <a:lnTo>
                  <a:pt x="143093" y="76782"/>
                </a:lnTo>
                <a:cubicBezTo>
                  <a:pt x="148895" y="76782"/>
                  <a:pt x="153563" y="72114"/>
                  <a:pt x="153563" y="66311"/>
                </a:cubicBezTo>
                <a:cubicBezTo>
                  <a:pt x="153563" y="60509"/>
                  <a:pt x="148895" y="55841"/>
                  <a:pt x="143093" y="55841"/>
                </a:cubicBezTo>
                <a:lnTo>
                  <a:pt x="66311" y="55841"/>
                </a:lnTo>
                <a:cubicBezTo>
                  <a:pt x="60509" y="55841"/>
                  <a:pt x="55841" y="60509"/>
                  <a:pt x="55841" y="66311"/>
                </a:cubicBezTo>
                <a:close/>
                <a:moveTo>
                  <a:pt x="66311" y="97722"/>
                </a:moveTo>
                <a:cubicBezTo>
                  <a:pt x="60509" y="97722"/>
                  <a:pt x="55841" y="102390"/>
                  <a:pt x="55841" y="108192"/>
                </a:cubicBezTo>
                <a:cubicBezTo>
                  <a:pt x="55841" y="113995"/>
                  <a:pt x="60509" y="118663"/>
                  <a:pt x="66311" y="118663"/>
                </a:cubicBezTo>
                <a:lnTo>
                  <a:pt x="143093" y="118663"/>
                </a:lnTo>
                <a:cubicBezTo>
                  <a:pt x="148895" y="118663"/>
                  <a:pt x="153563" y="113995"/>
                  <a:pt x="153563" y="108192"/>
                </a:cubicBezTo>
                <a:cubicBezTo>
                  <a:pt x="153563" y="102390"/>
                  <a:pt x="148895" y="97722"/>
                  <a:pt x="143093" y="97722"/>
                </a:cubicBezTo>
                <a:lnTo>
                  <a:pt x="66311" y="977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9501966" y="5855885"/>
            <a:ext cx="216850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506619" y="6079249"/>
            <a:ext cx="215919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Details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335047" y="6637662"/>
            <a:ext cx="1152190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dirty="0">
                <a:solidFill>
                  <a:srgbClr val="8DA9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Hathim Manaf | HR Workforce Analytics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Workforce Analytics</dc:title>
  <dc:subject>HR Workforce Analytics</dc:subject>
  <dc:creator>Kimi</dc:creator>
  <cp:lastModifiedBy>Kimi</cp:lastModifiedBy>
  <cp:revision>1</cp:revision>
  <dcterms:created xsi:type="dcterms:W3CDTF">2026-01-29T17:07:32Z</dcterms:created>
  <dcterms:modified xsi:type="dcterms:W3CDTF">2026-01-29T17:07:32Z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{"Label":"HR Workforce Analytics","ContentProducer":"001191110108MACG2KBH8F10000","ProduceID":"19c060f6-0102-8d35-8000-0000a1a06c41","ReservedCode1":"","ContentPropagator":"001191110108MACG2KBH8F20000","PropagateID":"19c060f6-0102-8d35-8000-0000a1a06c41","ReservedCode2":""}</vt:lpwstr>
  </property>
</Properties>
</file>